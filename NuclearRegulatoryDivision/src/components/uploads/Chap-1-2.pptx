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DM Sans" pitchFamily="2" charset="0"/>
      <p:regular r:id="rId12"/>
    </p:embeddedFont>
    <p:embeddedFont>
      <p:font typeface="DM Sans Bold" charset="0"/>
      <p:regular r:id="rId13"/>
    </p:embeddedFont>
    <p:embeddedFont>
      <p:font typeface="Merriweather Sans Bold" panose="020B0604020202020204" charset="0"/>
      <p:regular r:id="rId14"/>
    </p:embeddedFont>
    <p:embeddedFont>
      <p:font typeface="Neue Machina" panose="020B0604020202020204" charset="0"/>
      <p:regular r:id="rId15"/>
    </p:embeddedFont>
    <p:embeddedFont>
      <p:font typeface="Neue Machina Ultra-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516" y="1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6EA"/>
        </a:solidFill>
        <a:effectLst/>
      </p:bgPr>
    </p:bg>
    <p:spTree>
      <p:nvGrpSpPr>
        <p:cNvPr id="1" name=""/>
        <p:cNvGrpSpPr/>
        <p:nvPr/>
      </p:nvGrpSpPr>
      <p:grpSpPr>
        <a:xfrm>
          <a:off x="0" y="0"/>
          <a:ext cx="0" cy="0"/>
          <a:chOff x="0" y="0"/>
          <a:chExt cx="0" cy="0"/>
        </a:xfrm>
      </p:grpSpPr>
      <p:sp>
        <p:nvSpPr>
          <p:cNvPr id="2" name="TextBox 2"/>
          <p:cNvSpPr txBox="1"/>
          <p:nvPr/>
        </p:nvSpPr>
        <p:spPr>
          <a:xfrm>
            <a:off x="2026720" y="2239450"/>
            <a:ext cx="14676748" cy="4145939"/>
          </a:xfrm>
          <a:prstGeom prst="rect">
            <a:avLst/>
          </a:prstGeom>
        </p:spPr>
        <p:txBody>
          <a:bodyPr lIns="0" tIns="0" rIns="0" bIns="0" rtlCol="0" anchor="t">
            <a:spAutoFit/>
          </a:bodyPr>
          <a:lstStyle/>
          <a:p>
            <a:pPr algn="l">
              <a:lnSpc>
                <a:spcPts val="5488"/>
              </a:lnSpc>
            </a:pPr>
            <a:r>
              <a:rPr lang="en-US" sz="5488" b="1" dirty="0">
                <a:solidFill>
                  <a:srgbClr val="502521"/>
                </a:solidFill>
                <a:latin typeface="Merriweather Sans Bold"/>
                <a:ea typeface="Merriweather Sans Bold"/>
                <a:cs typeface="Merriweather Sans Bold"/>
                <a:sym typeface="Merriweather Sans Bold"/>
              </a:rPr>
              <a:t>FOSTERING COMMUNITY: WEB-BASED OPERATIONS AND MONITORING SYSTEM FOR ENHANCED COMMUNITY ENGAGEMENT IN BARANGAY 174 WITH AI CHATBOT ASSISTANT</a:t>
            </a:r>
          </a:p>
          <a:p>
            <a:pPr algn="l">
              <a:lnSpc>
                <a:spcPts val="5208"/>
              </a:lnSpc>
            </a:pPr>
            <a:endParaRPr lang="en-US" sz="5488" b="1" dirty="0">
              <a:solidFill>
                <a:srgbClr val="502521"/>
              </a:solidFill>
              <a:latin typeface="Merriweather Sans Bold"/>
              <a:ea typeface="Merriweather Sans Bold"/>
              <a:cs typeface="Merriweather Sans Bold"/>
              <a:sym typeface="Merriweather Sans Bold"/>
            </a:endParaRPr>
          </a:p>
        </p:txBody>
      </p:sp>
      <p:sp>
        <p:nvSpPr>
          <p:cNvPr id="3" name="TextBox 3"/>
          <p:cNvSpPr txBox="1"/>
          <p:nvPr/>
        </p:nvSpPr>
        <p:spPr>
          <a:xfrm>
            <a:off x="2582662" y="6998709"/>
            <a:ext cx="13952738" cy="1062407"/>
          </a:xfrm>
          <a:prstGeom prst="rect">
            <a:avLst/>
          </a:prstGeom>
        </p:spPr>
        <p:txBody>
          <a:bodyPr wrap="square" lIns="0" tIns="0" rIns="0" bIns="0" rtlCol="0" anchor="t">
            <a:spAutoFit/>
          </a:bodyPr>
          <a:lstStyle/>
          <a:p>
            <a:pPr algn="just">
              <a:lnSpc>
                <a:spcPts val="4299"/>
              </a:lnSpc>
            </a:pPr>
            <a:r>
              <a:rPr lang="en-US" sz="3071" dirty="0">
                <a:solidFill>
                  <a:srgbClr val="502521"/>
                </a:solidFill>
                <a:latin typeface="Neue Machina"/>
                <a:ea typeface="Neue Machina"/>
                <a:cs typeface="Neue Machina"/>
                <a:sym typeface="Neue Machina"/>
              </a:rPr>
              <a:t>Presented by </a:t>
            </a:r>
            <a:r>
              <a:rPr lang="en-US" sz="3071" dirty="0" err="1">
                <a:solidFill>
                  <a:srgbClr val="502521"/>
                </a:solidFill>
                <a:latin typeface="Neue Machina"/>
                <a:ea typeface="Neue Machina"/>
                <a:cs typeface="Neue Machina"/>
                <a:sym typeface="Neue Machina"/>
              </a:rPr>
              <a:t>Bacabis</a:t>
            </a:r>
            <a:r>
              <a:rPr lang="en-US" sz="3071" dirty="0">
                <a:solidFill>
                  <a:srgbClr val="502521"/>
                </a:solidFill>
                <a:latin typeface="Neue Machina"/>
                <a:ea typeface="Neue Machina"/>
                <a:cs typeface="Neue Machina"/>
                <a:sym typeface="Neue Machina"/>
              </a:rPr>
              <a:t> Mike Kenny, Cureg Marlyn, </a:t>
            </a:r>
            <a:r>
              <a:rPr lang="en-US" sz="3071" dirty="0" err="1">
                <a:solidFill>
                  <a:srgbClr val="502521"/>
                </a:solidFill>
                <a:latin typeface="Neue Machina"/>
                <a:ea typeface="Neue Machina"/>
                <a:cs typeface="Neue Machina"/>
                <a:sym typeface="Neue Machina"/>
              </a:rPr>
              <a:t>Noleal</a:t>
            </a:r>
            <a:r>
              <a:rPr lang="en-US" sz="3071" dirty="0">
                <a:solidFill>
                  <a:srgbClr val="502521"/>
                </a:solidFill>
                <a:latin typeface="Neue Machina"/>
                <a:ea typeface="Neue Machina"/>
                <a:cs typeface="Neue Machina"/>
                <a:sym typeface="Neue Machina"/>
              </a:rPr>
              <a:t> Jacqueline, </a:t>
            </a:r>
            <a:r>
              <a:rPr lang="en-US" sz="3071" dirty="0" err="1">
                <a:solidFill>
                  <a:srgbClr val="502521"/>
                </a:solidFill>
                <a:latin typeface="Neue Machina"/>
                <a:ea typeface="Neue Machina"/>
                <a:cs typeface="Neue Machina"/>
                <a:sym typeface="Neue Machina"/>
              </a:rPr>
              <a:t>Parico</a:t>
            </a:r>
            <a:r>
              <a:rPr lang="en-US" sz="3071" dirty="0">
                <a:solidFill>
                  <a:srgbClr val="502521"/>
                </a:solidFill>
                <a:latin typeface="Neue Machina"/>
                <a:ea typeface="Neue Machina"/>
                <a:cs typeface="Neue Machina"/>
                <a:sym typeface="Neue Machina"/>
              </a:rPr>
              <a:t> Rico, </a:t>
            </a:r>
            <a:r>
              <a:rPr lang="en-US" sz="3071" dirty="0" err="1">
                <a:solidFill>
                  <a:srgbClr val="502521"/>
                </a:solidFill>
                <a:latin typeface="Neue Machina"/>
                <a:ea typeface="Neue Machina"/>
                <a:cs typeface="Neue Machina"/>
                <a:sym typeface="Neue Machina"/>
              </a:rPr>
              <a:t>Salangsang</a:t>
            </a:r>
            <a:r>
              <a:rPr lang="en-US" sz="3071" dirty="0">
                <a:solidFill>
                  <a:srgbClr val="502521"/>
                </a:solidFill>
                <a:latin typeface="Neue Machina"/>
                <a:ea typeface="Neue Machina"/>
                <a:cs typeface="Neue Machina"/>
                <a:sym typeface="Neue Machina"/>
              </a:rPr>
              <a:t> Jenny Faye, and Soliman Kelvin Russel</a:t>
            </a:r>
          </a:p>
        </p:txBody>
      </p:sp>
      <p:sp>
        <p:nvSpPr>
          <p:cNvPr id="6" name="AutoShape 6">
            <a:extLst>
              <a:ext uri="{FF2B5EF4-FFF2-40B4-BE49-F238E27FC236}">
                <a16:creationId xmlns:a16="http://schemas.microsoft.com/office/drawing/2014/main" id="{F8453FE4-F674-A129-0C07-9907912B4093}"/>
              </a:ext>
            </a:extLst>
          </p:cNvPr>
          <p:cNvSpPr/>
          <p:nvPr/>
        </p:nvSpPr>
        <p:spPr>
          <a:xfrm>
            <a:off x="-533400" y="647700"/>
            <a:ext cx="6743748" cy="0"/>
          </a:xfrm>
          <a:prstGeom prst="line">
            <a:avLst/>
          </a:prstGeom>
          <a:ln w="38100" cap="flat">
            <a:solidFill>
              <a:schemeClr val="tx1">
                <a:lumMod val="65000"/>
                <a:lumOff val="35000"/>
              </a:schemeClr>
            </a:solidFill>
            <a:prstDash val="solid"/>
            <a:headEnd type="none" w="sm" len="sm"/>
            <a:tailEnd type="oval" w="lg" len="lg"/>
          </a:ln>
        </p:spPr>
      </p:sp>
      <p:sp>
        <p:nvSpPr>
          <p:cNvPr id="7" name="AutoShape 7">
            <a:extLst>
              <a:ext uri="{FF2B5EF4-FFF2-40B4-BE49-F238E27FC236}">
                <a16:creationId xmlns:a16="http://schemas.microsoft.com/office/drawing/2014/main" id="{5C0477AD-AC2E-E44D-F29A-2A9656B85FD4}"/>
              </a:ext>
            </a:extLst>
          </p:cNvPr>
          <p:cNvSpPr/>
          <p:nvPr/>
        </p:nvSpPr>
        <p:spPr>
          <a:xfrm flipH="1">
            <a:off x="11963400" y="9182100"/>
            <a:ext cx="6743748" cy="0"/>
          </a:xfrm>
          <a:prstGeom prst="line">
            <a:avLst/>
          </a:prstGeom>
          <a:ln w="38100" cap="flat">
            <a:solidFill>
              <a:schemeClr val="tx1">
                <a:lumMod val="75000"/>
                <a:lumOff val="25000"/>
              </a:schemeClr>
            </a:solidFill>
            <a:prstDash val="solid"/>
            <a:headEnd type="none" w="sm" len="sm"/>
            <a:tailEnd type="oval" w="lg" len="lg"/>
          </a:ln>
        </p:spPr>
        <p:txBody>
          <a:bodyPr/>
          <a:lstStyle/>
          <a:p>
            <a:endParaRPr lang="en-PH" dirty="0"/>
          </a:p>
        </p:txBody>
      </p:sp>
      <p:sp>
        <p:nvSpPr>
          <p:cNvPr id="8" name="AutoShape 7">
            <a:extLst>
              <a:ext uri="{FF2B5EF4-FFF2-40B4-BE49-F238E27FC236}">
                <a16:creationId xmlns:a16="http://schemas.microsoft.com/office/drawing/2014/main" id="{64169FAF-D047-1266-16E2-BA085984D6A9}"/>
              </a:ext>
            </a:extLst>
          </p:cNvPr>
          <p:cNvSpPr/>
          <p:nvPr/>
        </p:nvSpPr>
        <p:spPr>
          <a:xfrm flipH="1">
            <a:off x="12573000" y="9867900"/>
            <a:ext cx="6743748" cy="0"/>
          </a:xfrm>
          <a:prstGeom prst="line">
            <a:avLst/>
          </a:prstGeom>
          <a:ln w="38100" cap="flat">
            <a:solidFill>
              <a:schemeClr val="tx1">
                <a:lumMod val="75000"/>
                <a:lumOff val="25000"/>
              </a:schemeClr>
            </a:solidFill>
            <a:prstDash val="solid"/>
            <a:headEnd type="none" w="sm" len="sm"/>
            <a:tailEnd type="oval" w="lg" len="lg"/>
          </a:ln>
        </p:spPr>
        <p:txBody>
          <a:bodyPr/>
          <a:lstStyle/>
          <a:p>
            <a:endParaRPr lang="en-PH" dirty="0"/>
          </a:p>
        </p:txBody>
      </p:sp>
      <p:sp>
        <p:nvSpPr>
          <p:cNvPr id="9" name="AutoShape 6">
            <a:extLst>
              <a:ext uri="{FF2B5EF4-FFF2-40B4-BE49-F238E27FC236}">
                <a16:creationId xmlns:a16="http://schemas.microsoft.com/office/drawing/2014/main" id="{7E288CA6-E630-F4CC-4E70-28CC9E269DAC}"/>
              </a:ext>
            </a:extLst>
          </p:cNvPr>
          <p:cNvSpPr/>
          <p:nvPr/>
        </p:nvSpPr>
        <p:spPr>
          <a:xfrm>
            <a:off x="-1345154" y="1409700"/>
            <a:ext cx="6743748" cy="0"/>
          </a:xfrm>
          <a:prstGeom prst="line">
            <a:avLst/>
          </a:prstGeom>
          <a:ln w="38100" cap="flat">
            <a:solidFill>
              <a:schemeClr val="tx1">
                <a:lumMod val="65000"/>
                <a:lumOff val="35000"/>
              </a:schemeClr>
            </a:solidFill>
            <a:prstDash val="solid"/>
            <a:headEnd type="none" w="sm" len="sm"/>
            <a:tailEnd type="oval" w="lg" len="lg"/>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2" name="Group 2"/>
          <p:cNvGrpSpPr/>
          <p:nvPr/>
        </p:nvGrpSpPr>
        <p:grpSpPr>
          <a:xfrm>
            <a:off x="15832684" y="973325"/>
            <a:ext cx="110750" cy="1107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5D7D5"/>
              </a:solidFill>
              <a:prstDash val="solid"/>
              <a:miter/>
            </a:ln>
          </p:spPr>
        </p:sp>
        <p:sp>
          <p:nvSpPr>
            <p:cNvPr id="4" name="TextBox 4"/>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5" name="TextBox 5"/>
          <p:cNvSpPr txBox="1"/>
          <p:nvPr/>
        </p:nvSpPr>
        <p:spPr>
          <a:xfrm>
            <a:off x="1834949" y="1744562"/>
            <a:ext cx="4597213" cy="800933"/>
          </a:xfrm>
          <a:prstGeom prst="rect">
            <a:avLst/>
          </a:prstGeom>
        </p:spPr>
        <p:txBody>
          <a:bodyPr lIns="0" tIns="0" rIns="0" bIns="0" rtlCol="0" anchor="t">
            <a:spAutoFit/>
          </a:bodyPr>
          <a:lstStyle/>
          <a:p>
            <a:pPr algn="l">
              <a:lnSpc>
                <a:spcPts val="5752"/>
              </a:lnSpc>
            </a:pPr>
            <a:r>
              <a:rPr lang="en-US" sz="6612" b="1">
                <a:solidFill>
                  <a:srgbClr val="FFFFFF"/>
                </a:solidFill>
                <a:latin typeface="Neue Machina Ultra-Bold"/>
                <a:ea typeface="Neue Machina Ultra-Bold"/>
                <a:cs typeface="Neue Machina Ultra-Bold"/>
                <a:sym typeface="Neue Machina Ultra-Bold"/>
              </a:rPr>
              <a:t>Overview</a:t>
            </a:r>
          </a:p>
        </p:txBody>
      </p:sp>
      <p:grpSp>
        <p:nvGrpSpPr>
          <p:cNvPr id="8" name="Group 8"/>
          <p:cNvGrpSpPr/>
          <p:nvPr/>
        </p:nvGrpSpPr>
        <p:grpSpPr>
          <a:xfrm>
            <a:off x="15633392" y="973325"/>
            <a:ext cx="110750" cy="1107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10" name="TextBox 10"/>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1" name="Group 11"/>
          <p:cNvGrpSpPr/>
          <p:nvPr/>
        </p:nvGrpSpPr>
        <p:grpSpPr>
          <a:xfrm>
            <a:off x="15434100" y="973325"/>
            <a:ext cx="110750" cy="11075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5D7D5"/>
              </a:solidFill>
              <a:prstDash val="solid"/>
              <a:miter/>
            </a:ln>
          </p:spPr>
        </p:sp>
        <p:sp>
          <p:nvSpPr>
            <p:cNvPr id="13" name="TextBox 13"/>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4" name="TextBox 14"/>
          <p:cNvSpPr txBox="1"/>
          <p:nvPr/>
        </p:nvSpPr>
        <p:spPr>
          <a:xfrm>
            <a:off x="2322369" y="4026257"/>
            <a:ext cx="6364431" cy="490519"/>
          </a:xfrm>
          <a:prstGeom prst="rect">
            <a:avLst/>
          </a:prstGeom>
        </p:spPr>
        <p:txBody>
          <a:bodyPr wrap="square" lIns="0" tIns="0" rIns="0" bIns="0" rtlCol="0" anchor="t">
            <a:spAutoFit/>
          </a:bodyPr>
          <a:lstStyle/>
          <a:p>
            <a:pPr marL="793309" lvl="1" indent="-396655" algn="ctr">
              <a:lnSpc>
                <a:spcPts val="3674"/>
              </a:lnSpc>
              <a:buFont typeface="Arial"/>
              <a:buChar char="•"/>
            </a:pPr>
            <a:r>
              <a:rPr lang="en-US" sz="3674" dirty="0">
                <a:solidFill>
                  <a:srgbClr val="FFFFFF"/>
                </a:solidFill>
                <a:latin typeface="DM Sans"/>
                <a:ea typeface="DM Sans"/>
                <a:cs typeface="DM Sans"/>
                <a:sym typeface="DM Sans"/>
              </a:rPr>
              <a:t>Background of the study</a:t>
            </a:r>
          </a:p>
        </p:txBody>
      </p:sp>
      <p:sp>
        <p:nvSpPr>
          <p:cNvPr id="15" name="TextBox 15"/>
          <p:cNvSpPr txBox="1"/>
          <p:nvPr/>
        </p:nvSpPr>
        <p:spPr>
          <a:xfrm>
            <a:off x="2339822" y="4967286"/>
            <a:ext cx="6143353" cy="490519"/>
          </a:xfrm>
          <a:prstGeom prst="rect">
            <a:avLst/>
          </a:prstGeom>
        </p:spPr>
        <p:txBody>
          <a:bodyPr wrap="square" lIns="0" tIns="0" rIns="0" bIns="0" rtlCol="0" anchor="t">
            <a:spAutoFit/>
          </a:bodyPr>
          <a:lstStyle/>
          <a:p>
            <a:pPr marL="793309" lvl="1" indent="-396655" algn="ctr">
              <a:lnSpc>
                <a:spcPts val="3674"/>
              </a:lnSpc>
              <a:buFont typeface="Arial"/>
              <a:buChar char="•"/>
            </a:pPr>
            <a:r>
              <a:rPr lang="en-US" sz="3674" dirty="0">
                <a:solidFill>
                  <a:srgbClr val="FFFFFF"/>
                </a:solidFill>
                <a:latin typeface="DM Sans"/>
                <a:ea typeface="DM Sans"/>
                <a:cs typeface="DM Sans"/>
                <a:sym typeface="DM Sans"/>
              </a:rPr>
              <a:t>Objectives of the study</a:t>
            </a:r>
          </a:p>
        </p:txBody>
      </p:sp>
      <p:sp>
        <p:nvSpPr>
          <p:cNvPr id="16" name="TextBox 16"/>
          <p:cNvSpPr txBox="1"/>
          <p:nvPr/>
        </p:nvSpPr>
        <p:spPr>
          <a:xfrm>
            <a:off x="2339823" y="5860690"/>
            <a:ext cx="6364430" cy="490519"/>
          </a:xfrm>
          <a:prstGeom prst="rect">
            <a:avLst/>
          </a:prstGeom>
        </p:spPr>
        <p:txBody>
          <a:bodyPr wrap="square" lIns="0" tIns="0" rIns="0" bIns="0" rtlCol="0" anchor="t">
            <a:spAutoFit/>
          </a:bodyPr>
          <a:lstStyle/>
          <a:p>
            <a:pPr marL="793309" lvl="1" indent="-396655" algn="ctr">
              <a:lnSpc>
                <a:spcPts val="3674"/>
              </a:lnSpc>
              <a:buFont typeface="Arial"/>
              <a:buChar char="•"/>
            </a:pPr>
            <a:r>
              <a:rPr lang="en-US" sz="3674" dirty="0">
                <a:solidFill>
                  <a:srgbClr val="FFFFFF"/>
                </a:solidFill>
                <a:latin typeface="DM Sans"/>
                <a:ea typeface="DM Sans"/>
                <a:cs typeface="DM Sans"/>
                <a:sym typeface="DM Sans"/>
              </a:rPr>
              <a:t>Significance of the study</a:t>
            </a:r>
          </a:p>
        </p:txBody>
      </p:sp>
      <p:sp>
        <p:nvSpPr>
          <p:cNvPr id="17" name="TextBox 17"/>
          <p:cNvSpPr txBox="1"/>
          <p:nvPr/>
        </p:nvSpPr>
        <p:spPr>
          <a:xfrm>
            <a:off x="9525000" y="4026257"/>
            <a:ext cx="5710694" cy="490519"/>
          </a:xfrm>
          <a:prstGeom prst="rect">
            <a:avLst/>
          </a:prstGeom>
        </p:spPr>
        <p:txBody>
          <a:bodyPr wrap="square" lIns="0" tIns="0" rIns="0" bIns="0" rtlCol="0" anchor="t">
            <a:spAutoFit/>
          </a:bodyPr>
          <a:lstStyle/>
          <a:p>
            <a:pPr marL="793309" lvl="1" indent="-396655" algn="ctr">
              <a:lnSpc>
                <a:spcPts val="3674"/>
              </a:lnSpc>
              <a:buFont typeface="Arial"/>
              <a:buChar char="•"/>
            </a:pPr>
            <a:r>
              <a:rPr lang="en-US" sz="3674" dirty="0">
                <a:solidFill>
                  <a:srgbClr val="FFFFFF"/>
                </a:solidFill>
                <a:latin typeface="DM Sans"/>
                <a:ea typeface="DM Sans"/>
                <a:cs typeface="DM Sans"/>
                <a:sym typeface="DM Sans"/>
              </a:rPr>
              <a:t>Scope and Limitation</a:t>
            </a:r>
          </a:p>
        </p:txBody>
      </p:sp>
      <p:sp>
        <p:nvSpPr>
          <p:cNvPr id="18" name="TextBox 18"/>
          <p:cNvSpPr txBox="1"/>
          <p:nvPr/>
        </p:nvSpPr>
        <p:spPr>
          <a:xfrm>
            <a:off x="9740503" y="4967286"/>
            <a:ext cx="4661297" cy="474303"/>
          </a:xfrm>
          <a:prstGeom prst="rect">
            <a:avLst/>
          </a:prstGeom>
        </p:spPr>
        <p:txBody>
          <a:bodyPr lIns="0" tIns="0" rIns="0" bIns="0" rtlCol="0" anchor="t">
            <a:spAutoFit/>
          </a:bodyPr>
          <a:lstStyle/>
          <a:p>
            <a:pPr marL="793309" lvl="1" indent="-396655" algn="ctr">
              <a:lnSpc>
                <a:spcPts val="3674"/>
              </a:lnSpc>
              <a:buFont typeface="Arial"/>
              <a:buChar char="•"/>
            </a:pPr>
            <a:r>
              <a:rPr lang="en-US" sz="3674">
                <a:solidFill>
                  <a:srgbClr val="FFFFFF"/>
                </a:solidFill>
                <a:latin typeface="DM Sans"/>
                <a:ea typeface="DM Sans"/>
                <a:cs typeface="DM Sans"/>
                <a:sym typeface="DM Sans"/>
              </a:rPr>
              <a:t>Related Literature</a:t>
            </a:r>
          </a:p>
        </p:txBody>
      </p:sp>
      <p:sp>
        <p:nvSpPr>
          <p:cNvPr id="19" name="TextBox 19"/>
          <p:cNvSpPr txBox="1"/>
          <p:nvPr/>
        </p:nvSpPr>
        <p:spPr>
          <a:xfrm>
            <a:off x="9677400" y="5860690"/>
            <a:ext cx="6010353" cy="490519"/>
          </a:xfrm>
          <a:prstGeom prst="rect">
            <a:avLst/>
          </a:prstGeom>
        </p:spPr>
        <p:txBody>
          <a:bodyPr wrap="square" lIns="0" tIns="0" rIns="0" bIns="0" rtlCol="0" anchor="t">
            <a:spAutoFit/>
          </a:bodyPr>
          <a:lstStyle/>
          <a:p>
            <a:pPr marL="793309" lvl="1" indent="-396655" algn="ctr">
              <a:lnSpc>
                <a:spcPts val="3674"/>
              </a:lnSpc>
              <a:buFont typeface="Arial"/>
              <a:buChar char="•"/>
            </a:pPr>
            <a:r>
              <a:rPr lang="en-US" sz="3674" dirty="0">
                <a:solidFill>
                  <a:srgbClr val="FFFFFF"/>
                </a:solidFill>
                <a:latin typeface="DM Sans"/>
                <a:ea typeface="DM Sans"/>
                <a:cs typeface="DM Sans"/>
                <a:sym typeface="DM Sans"/>
              </a:rPr>
              <a:t>Conceptual Framework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6EA"/>
        </a:solidFill>
        <a:effectLst/>
      </p:bgPr>
    </p:bg>
    <p:spTree>
      <p:nvGrpSpPr>
        <p:cNvPr id="1" name=""/>
        <p:cNvGrpSpPr/>
        <p:nvPr/>
      </p:nvGrpSpPr>
      <p:grpSpPr>
        <a:xfrm>
          <a:off x="0" y="0"/>
          <a:ext cx="0" cy="0"/>
          <a:chOff x="0" y="0"/>
          <a:chExt cx="0" cy="0"/>
        </a:xfrm>
      </p:grpSpPr>
      <p:grpSp>
        <p:nvGrpSpPr>
          <p:cNvPr id="2" name="Group 2"/>
          <p:cNvGrpSpPr/>
          <p:nvPr/>
        </p:nvGrpSpPr>
        <p:grpSpPr>
          <a:xfrm>
            <a:off x="-616700" y="580144"/>
            <a:ext cx="9760700" cy="1595230"/>
            <a:chOff x="0" y="0"/>
            <a:chExt cx="2754098" cy="420143"/>
          </a:xfrm>
        </p:grpSpPr>
        <p:sp>
          <p:nvSpPr>
            <p:cNvPr id="3" name="Freeform 3"/>
            <p:cNvSpPr/>
            <p:nvPr/>
          </p:nvSpPr>
          <p:spPr>
            <a:xfrm>
              <a:off x="0" y="0"/>
              <a:ext cx="2754098" cy="420143"/>
            </a:xfrm>
            <a:custGeom>
              <a:avLst/>
              <a:gdLst/>
              <a:ahLst/>
              <a:cxnLst/>
              <a:rect l="l" t="t" r="r" b="b"/>
              <a:pathLst>
                <a:path w="2754098" h="420143">
                  <a:moveTo>
                    <a:pt x="74036" y="0"/>
                  </a:moveTo>
                  <a:lnTo>
                    <a:pt x="2680062" y="0"/>
                  </a:lnTo>
                  <a:cubicBezTo>
                    <a:pt x="2720951" y="0"/>
                    <a:pt x="2754098" y="33147"/>
                    <a:pt x="2754098" y="74036"/>
                  </a:cubicBezTo>
                  <a:lnTo>
                    <a:pt x="2754098" y="346107"/>
                  </a:lnTo>
                  <a:cubicBezTo>
                    <a:pt x="2754098" y="386996"/>
                    <a:pt x="2720951" y="420143"/>
                    <a:pt x="2680062" y="420143"/>
                  </a:cubicBezTo>
                  <a:lnTo>
                    <a:pt x="74036" y="420143"/>
                  </a:lnTo>
                  <a:cubicBezTo>
                    <a:pt x="33147" y="420143"/>
                    <a:pt x="0" y="386996"/>
                    <a:pt x="0" y="346107"/>
                  </a:cubicBezTo>
                  <a:lnTo>
                    <a:pt x="0" y="74036"/>
                  </a:lnTo>
                  <a:cubicBezTo>
                    <a:pt x="0" y="33147"/>
                    <a:pt x="33147" y="0"/>
                    <a:pt x="74036" y="0"/>
                  </a:cubicBezTo>
                  <a:close/>
                </a:path>
              </a:pathLst>
            </a:custGeom>
            <a:solidFill>
              <a:srgbClr val="000000">
                <a:alpha val="0"/>
              </a:srgbClr>
            </a:solidFill>
            <a:ln w="38100" cap="rnd">
              <a:solidFill>
                <a:srgbClr val="401A17"/>
              </a:solidFill>
              <a:prstDash val="solid"/>
              <a:round/>
            </a:ln>
          </p:spPr>
        </p:sp>
        <p:sp>
          <p:nvSpPr>
            <p:cNvPr id="4" name="TextBox 4"/>
            <p:cNvSpPr txBox="1"/>
            <p:nvPr/>
          </p:nvSpPr>
          <p:spPr>
            <a:xfrm>
              <a:off x="0" y="-28575"/>
              <a:ext cx="2754098"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5D7D5"/>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TextBox 8"/>
          <p:cNvSpPr txBox="1"/>
          <p:nvPr/>
        </p:nvSpPr>
        <p:spPr>
          <a:xfrm>
            <a:off x="638175" y="1152525"/>
            <a:ext cx="8115300" cy="574267"/>
          </a:xfrm>
          <a:prstGeom prst="rect">
            <a:avLst/>
          </a:prstGeom>
        </p:spPr>
        <p:txBody>
          <a:bodyPr lIns="0" tIns="0" rIns="0" bIns="0" rtlCol="0" anchor="t">
            <a:spAutoFit/>
          </a:bodyPr>
          <a:lstStyle/>
          <a:p>
            <a:pPr algn="l">
              <a:lnSpc>
                <a:spcPts val="4012"/>
              </a:lnSpc>
            </a:pPr>
            <a:r>
              <a:rPr lang="en-US" sz="4612" b="1" dirty="0">
                <a:solidFill>
                  <a:srgbClr val="502521"/>
                </a:solidFill>
                <a:latin typeface="Neue Machina Ultra-Bold"/>
                <a:ea typeface="Neue Machina Ultra-Bold"/>
                <a:cs typeface="Neue Machina Ultra-Bold"/>
                <a:sym typeface="Neue Machina Ultra-Bold"/>
              </a:rPr>
              <a:t>Background of the Study</a:t>
            </a:r>
          </a:p>
        </p:txBody>
      </p:sp>
      <p:grpSp>
        <p:nvGrpSpPr>
          <p:cNvPr id="11" name="Group 11"/>
          <p:cNvGrpSpPr/>
          <p:nvPr/>
        </p:nvGrpSpPr>
        <p:grpSpPr>
          <a:xfrm>
            <a:off x="15633392" y="973325"/>
            <a:ext cx="110750" cy="11075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13" name="TextBox 13"/>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4" name="Group 14"/>
          <p:cNvGrpSpPr/>
          <p:nvPr/>
        </p:nvGrpSpPr>
        <p:grpSpPr>
          <a:xfrm>
            <a:off x="15434100" y="973325"/>
            <a:ext cx="110750" cy="11075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5D7D5"/>
              </a:solidFill>
              <a:prstDash val="solid"/>
              <a:miter/>
            </a:ln>
          </p:spPr>
        </p:sp>
        <p:sp>
          <p:nvSpPr>
            <p:cNvPr id="16" name="TextBox 16"/>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7" name="TextBox 17"/>
          <p:cNvSpPr txBox="1"/>
          <p:nvPr/>
        </p:nvSpPr>
        <p:spPr>
          <a:xfrm>
            <a:off x="1047826" y="3946477"/>
            <a:ext cx="16192348" cy="5580955"/>
          </a:xfrm>
          <a:prstGeom prst="rect">
            <a:avLst/>
          </a:prstGeom>
        </p:spPr>
        <p:txBody>
          <a:bodyPr lIns="0" tIns="0" rIns="0" bIns="0" rtlCol="0" anchor="t">
            <a:spAutoFit/>
          </a:bodyPr>
          <a:lstStyle/>
          <a:p>
            <a:pPr algn="just">
              <a:lnSpc>
                <a:spcPts val="3749"/>
              </a:lnSpc>
            </a:pPr>
            <a:r>
              <a:rPr lang="en-US" sz="2677" dirty="0">
                <a:solidFill>
                  <a:srgbClr val="502521"/>
                </a:solidFill>
                <a:latin typeface="DM Sans"/>
                <a:ea typeface="DM Sans"/>
                <a:cs typeface="DM Sans"/>
                <a:sym typeface="DM Sans"/>
              </a:rPr>
              <a:t>      In a country where corruption and inefficiencies remain significant, regaining public trust is a challenging task. Digital technology has emerged as a powerful tool for promoting transparency, streamlining governance, and improving public services. However, not everyone is keeping pace with technological advancements; with many local government units (LGUs) still relying on outdated, manual processes which contribute to inefficiencies and perpetuate corruption.</a:t>
            </a:r>
          </a:p>
          <a:p>
            <a:pPr algn="just">
              <a:lnSpc>
                <a:spcPts val="3749"/>
              </a:lnSpc>
            </a:pPr>
            <a:endParaRPr lang="en-US" sz="2677" dirty="0">
              <a:solidFill>
                <a:srgbClr val="502521"/>
              </a:solidFill>
              <a:latin typeface="DM Sans"/>
              <a:ea typeface="DM Sans"/>
              <a:cs typeface="DM Sans"/>
              <a:sym typeface="DM Sans"/>
            </a:endParaRPr>
          </a:p>
          <a:p>
            <a:pPr algn="just">
              <a:lnSpc>
                <a:spcPts val="3749"/>
              </a:lnSpc>
            </a:pPr>
            <a:r>
              <a:rPr lang="en-US" sz="2677" dirty="0">
                <a:solidFill>
                  <a:srgbClr val="502521"/>
                </a:solidFill>
                <a:latin typeface="DM Sans"/>
                <a:ea typeface="DM Sans"/>
                <a:cs typeface="DM Sans"/>
                <a:sym typeface="DM Sans"/>
              </a:rPr>
              <a:t>    Barangay 174—one of the largest barangays in Caloocan—continues to face challenges in governance, service accessibility, and community engagement. Residents often experience long queues, delayed document processing, and a lack of real-time updates on barangay activities. Additionally, waste management coordination, job assistance, and emergency response systems remain inefficient, impacting the overall quality of public service delivery.</a:t>
            </a:r>
          </a:p>
          <a:p>
            <a:pPr algn="just">
              <a:lnSpc>
                <a:spcPts val="3749"/>
              </a:lnSpc>
            </a:pPr>
            <a:endParaRPr lang="en-US" sz="2677" dirty="0">
              <a:solidFill>
                <a:srgbClr val="502521"/>
              </a:solidFill>
              <a:latin typeface="DM Sans"/>
              <a:ea typeface="DM Sans"/>
              <a:cs typeface="DM Sans"/>
              <a:sym typeface="DM Sans"/>
            </a:endParaRPr>
          </a:p>
        </p:txBody>
      </p:sp>
      <p:sp>
        <p:nvSpPr>
          <p:cNvPr id="18" name="TextBox 18"/>
          <p:cNvSpPr txBox="1"/>
          <p:nvPr/>
        </p:nvSpPr>
        <p:spPr>
          <a:xfrm>
            <a:off x="962025" y="2711419"/>
            <a:ext cx="16092796" cy="699013"/>
          </a:xfrm>
          <a:prstGeom prst="rect">
            <a:avLst/>
          </a:prstGeom>
        </p:spPr>
        <p:txBody>
          <a:bodyPr lIns="0" tIns="0" rIns="0" bIns="0" rtlCol="0" anchor="t">
            <a:spAutoFit/>
          </a:bodyPr>
          <a:lstStyle/>
          <a:p>
            <a:pPr algn="ctr">
              <a:lnSpc>
                <a:spcPts val="2774"/>
              </a:lnSpc>
              <a:spcBef>
                <a:spcPct val="0"/>
              </a:spcBef>
            </a:pPr>
            <a:r>
              <a:rPr lang="en-US" sz="2774">
                <a:solidFill>
                  <a:srgbClr val="502521"/>
                </a:solidFill>
                <a:latin typeface="DM Sans"/>
                <a:ea typeface="DM Sans"/>
                <a:cs typeface="DM Sans"/>
                <a:sym typeface="DM Sans"/>
              </a:rPr>
              <a:t> "Transparency is the best disinfectant. When the public knows what's going on, they can hold you accountable," said Michael Bloomberg, Former New York City Mayor.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a:ln w="19050" cap="sq">
              <a:solidFill>
                <a:srgbClr val="6E332E"/>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0" name="Group 10"/>
          <p:cNvGrpSpPr/>
          <p:nvPr/>
        </p:nvGrpSpPr>
        <p:grpSpPr>
          <a:xfrm>
            <a:off x="15633392" y="973325"/>
            <a:ext cx="110750" cy="1107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332E"/>
            </a:solidFill>
          </p:spPr>
        </p:sp>
        <p:sp>
          <p:nvSpPr>
            <p:cNvPr id="12" name="TextBox 12"/>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3" name="Group 13"/>
          <p:cNvGrpSpPr/>
          <p:nvPr/>
        </p:nvGrpSpPr>
        <p:grpSpPr>
          <a:xfrm>
            <a:off x="15434100" y="973325"/>
            <a:ext cx="110750" cy="1107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a:ln w="19050" cap="sq">
              <a:solidFill>
                <a:srgbClr val="6E332E"/>
              </a:solidFill>
              <a:prstDash val="solid"/>
              <a:miter/>
            </a:ln>
          </p:spPr>
        </p:sp>
        <p:sp>
          <p:nvSpPr>
            <p:cNvPr id="15" name="TextBox 1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7" name="TextBox 17"/>
          <p:cNvSpPr txBox="1"/>
          <p:nvPr/>
        </p:nvSpPr>
        <p:spPr>
          <a:xfrm>
            <a:off x="640782" y="2718570"/>
            <a:ext cx="17044537" cy="1623789"/>
          </a:xfrm>
          <a:prstGeom prst="rect">
            <a:avLst/>
          </a:prstGeom>
        </p:spPr>
        <p:txBody>
          <a:bodyPr lIns="0" tIns="0" rIns="0" bIns="0" rtlCol="0" anchor="t">
            <a:spAutoFit/>
          </a:bodyPr>
          <a:lstStyle/>
          <a:p>
            <a:pPr algn="just">
              <a:lnSpc>
                <a:spcPts val="3174"/>
              </a:lnSpc>
            </a:pPr>
            <a:r>
              <a:rPr lang="en-US" sz="3174" dirty="0">
                <a:solidFill>
                  <a:srgbClr val="FFF6EA"/>
                </a:solidFill>
                <a:latin typeface="DM Sans"/>
                <a:ea typeface="DM Sans"/>
                <a:cs typeface="DM Sans"/>
                <a:sym typeface="DM Sans"/>
              </a:rPr>
              <a:t>To develop a web-based operations and monitoring system with an AI-powered chatbot assistant to enhance community engagement, improve service accessibility, and streamline barangay operations for Barangay 174.</a:t>
            </a:r>
          </a:p>
          <a:p>
            <a:pPr algn="just">
              <a:lnSpc>
                <a:spcPts val="3174"/>
              </a:lnSpc>
              <a:spcBef>
                <a:spcPct val="0"/>
              </a:spcBef>
            </a:pPr>
            <a:endParaRPr lang="en-US" sz="3174" dirty="0">
              <a:solidFill>
                <a:srgbClr val="FFF6EA"/>
              </a:solidFill>
              <a:latin typeface="DM Sans"/>
              <a:ea typeface="DM Sans"/>
              <a:cs typeface="DM Sans"/>
              <a:sym typeface="DM Sans"/>
            </a:endParaRPr>
          </a:p>
        </p:txBody>
      </p:sp>
      <p:sp>
        <p:nvSpPr>
          <p:cNvPr id="18" name="TextBox 18"/>
          <p:cNvSpPr txBox="1"/>
          <p:nvPr/>
        </p:nvSpPr>
        <p:spPr>
          <a:xfrm>
            <a:off x="543705" y="2106346"/>
            <a:ext cx="3994006" cy="438190"/>
          </a:xfrm>
          <a:prstGeom prst="rect">
            <a:avLst/>
          </a:prstGeom>
        </p:spPr>
        <p:txBody>
          <a:bodyPr lIns="0" tIns="0" rIns="0" bIns="0" rtlCol="0" anchor="t">
            <a:spAutoFit/>
          </a:bodyPr>
          <a:lstStyle/>
          <a:p>
            <a:pPr algn="ctr">
              <a:lnSpc>
                <a:spcPts val="3374"/>
              </a:lnSpc>
              <a:spcBef>
                <a:spcPct val="0"/>
              </a:spcBef>
            </a:pPr>
            <a:r>
              <a:rPr lang="en-US" sz="3374" b="1">
                <a:solidFill>
                  <a:srgbClr val="FFF6EA"/>
                </a:solidFill>
                <a:latin typeface="DM Sans Bold"/>
                <a:ea typeface="DM Sans Bold"/>
                <a:cs typeface="DM Sans Bold"/>
                <a:sym typeface="DM Sans Bold"/>
              </a:rPr>
              <a:t>General Objectives</a:t>
            </a:r>
          </a:p>
        </p:txBody>
      </p:sp>
      <p:sp>
        <p:nvSpPr>
          <p:cNvPr id="19" name="TextBox 19"/>
          <p:cNvSpPr txBox="1"/>
          <p:nvPr/>
        </p:nvSpPr>
        <p:spPr>
          <a:xfrm>
            <a:off x="525156" y="4409034"/>
            <a:ext cx="4050154" cy="438190"/>
          </a:xfrm>
          <a:prstGeom prst="rect">
            <a:avLst/>
          </a:prstGeom>
        </p:spPr>
        <p:txBody>
          <a:bodyPr lIns="0" tIns="0" rIns="0" bIns="0" rtlCol="0" anchor="t">
            <a:spAutoFit/>
          </a:bodyPr>
          <a:lstStyle/>
          <a:p>
            <a:pPr algn="ctr">
              <a:lnSpc>
                <a:spcPts val="3374"/>
              </a:lnSpc>
              <a:spcBef>
                <a:spcPct val="0"/>
              </a:spcBef>
            </a:pPr>
            <a:r>
              <a:rPr lang="en-US" sz="3374" b="1">
                <a:solidFill>
                  <a:srgbClr val="FFF6EA"/>
                </a:solidFill>
                <a:latin typeface="DM Sans Bold"/>
                <a:ea typeface="DM Sans Bold"/>
                <a:cs typeface="DM Sans Bold"/>
                <a:sym typeface="DM Sans Bold"/>
              </a:rPr>
              <a:t>Specific Objectives</a:t>
            </a:r>
          </a:p>
        </p:txBody>
      </p:sp>
      <p:sp>
        <p:nvSpPr>
          <p:cNvPr id="20" name="TextBox 20"/>
          <p:cNvSpPr txBox="1"/>
          <p:nvPr/>
        </p:nvSpPr>
        <p:spPr>
          <a:xfrm>
            <a:off x="534681" y="5067300"/>
            <a:ext cx="16983075" cy="4628975"/>
          </a:xfrm>
          <a:prstGeom prst="rect">
            <a:avLst/>
          </a:prstGeom>
        </p:spPr>
        <p:txBody>
          <a:bodyPr lIns="0" tIns="0" rIns="0" bIns="0" rtlCol="0" anchor="t">
            <a:spAutoFit/>
          </a:bodyPr>
          <a:lstStyle/>
          <a:p>
            <a:pPr marL="663773" lvl="1" indent="-331886" algn="l">
              <a:lnSpc>
                <a:spcPts val="3320"/>
              </a:lnSpc>
              <a:buAutoNum type="arabicPeriod"/>
            </a:pPr>
            <a:r>
              <a:rPr lang="en-US" sz="3074" dirty="0">
                <a:solidFill>
                  <a:srgbClr val="FFF6EA"/>
                </a:solidFill>
                <a:latin typeface="DM Sans"/>
                <a:ea typeface="DM Sans"/>
                <a:cs typeface="DM Sans"/>
                <a:sym typeface="DM Sans"/>
              </a:rPr>
              <a:t> Identify communication gaps by providing a digital platform for real-time updates, announcements, and community feedback.</a:t>
            </a:r>
          </a:p>
          <a:p>
            <a:pPr marL="663773" lvl="1" indent="-331886" algn="l">
              <a:lnSpc>
                <a:spcPts val="3320"/>
              </a:lnSpc>
              <a:buAutoNum type="arabicPeriod"/>
            </a:pPr>
            <a:r>
              <a:rPr lang="en-US" sz="3074" dirty="0">
                <a:solidFill>
                  <a:srgbClr val="FFF6EA"/>
                </a:solidFill>
                <a:latin typeface="DM Sans"/>
                <a:ea typeface="DM Sans"/>
                <a:cs typeface="DM Sans"/>
                <a:sym typeface="DM Sans"/>
              </a:rPr>
              <a:t>Enhance service accessibility by integrating an AI-driven chatbot for handling inquiries, complaints, and service requests.</a:t>
            </a:r>
          </a:p>
          <a:p>
            <a:pPr marL="663773" lvl="1" indent="-331886" algn="l">
              <a:lnSpc>
                <a:spcPts val="3320"/>
              </a:lnSpc>
              <a:buAutoNum type="arabicPeriod"/>
            </a:pPr>
            <a:r>
              <a:rPr lang="en-US" sz="3074" dirty="0">
                <a:solidFill>
                  <a:srgbClr val="FFF6EA"/>
                </a:solidFill>
                <a:latin typeface="DM Sans"/>
                <a:ea typeface="DM Sans"/>
                <a:cs typeface="DM Sans"/>
                <a:sym typeface="DM Sans"/>
              </a:rPr>
              <a:t>Promote efficient governance through features such as QR-based document verification, automated service tracking, and geotagged incident reporting.</a:t>
            </a:r>
          </a:p>
          <a:p>
            <a:pPr marL="663773" lvl="1" indent="-331886" algn="l">
              <a:lnSpc>
                <a:spcPts val="3320"/>
              </a:lnSpc>
              <a:buAutoNum type="arabicPeriod"/>
            </a:pPr>
            <a:r>
              <a:rPr lang="en-US" sz="3074" dirty="0">
                <a:solidFill>
                  <a:srgbClr val="FFF6EA"/>
                </a:solidFill>
                <a:latin typeface="DM Sans"/>
                <a:ea typeface="DM Sans"/>
                <a:cs typeface="DM Sans"/>
                <a:sym typeface="DM Sans"/>
              </a:rPr>
              <a:t>Promote Community Engagement in Local Activities</a:t>
            </a:r>
          </a:p>
          <a:p>
            <a:pPr marL="663773" lvl="1" indent="-331886" algn="l">
              <a:lnSpc>
                <a:spcPts val="3320"/>
              </a:lnSpc>
              <a:buAutoNum type="arabicPeriod"/>
            </a:pPr>
            <a:r>
              <a:rPr lang="en-US" sz="3074" dirty="0">
                <a:solidFill>
                  <a:srgbClr val="FFF6EA"/>
                </a:solidFill>
                <a:latin typeface="DM Sans"/>
                <a:ea typeface="DM Sans"/>
                <a:cs typeface="DM Sans"/>
                <a:sym typeface="DM Sans"/>
              </a:rPr>
              <a:t>Support Local Employment and Business Growth</a:t>
            </a:r>
          </a:p>
          <a:p>
            <a:pPr marL="663773" lvl="1" indent="-331886" algn="l">
              <a:lnSpc>
                <a:spcPts val="3320"/>
              </a:lnSpc>
              <a:buAutoNum type="arabicPeriod"/>
            </a:pPr>
            <a:r>
              <a:rPr lang="en-US" sz="3074" dirty="0">
                <a:solidFill>
                  <a:srgbClr val="FFF6EA"/>
                </a:solidFill>
                <a:latin typeface="DM Sans"/>
                <a:ea typeface="DM Sans"/>
                <a:cs typeface="DM Sans"/>
                <a:sym typeface="DM Sans"/>
              </a:rPr>
              <a:t>Maintain a Safe and Inclusive Digital Environment</a:t>
            </a:r>
          </a:p>
          <a:p>
            <a:pPr marL="663773" lvl="1" indent="-331886" algn="l">
              <a:lnSpc>
                <a:spcPts val="3320"/>
              </a:lnSpc>
              <a:buAutoNum type="arabicPeriod"/>
            </a:pPr>
            <a:r>
              <a:rPr lang="en-US" sz="3074" dirty="0">
                <a:solidFill>
                  <a:srgbClr val="FFF6EA"/>
                </a:solidFill>
                <a:latin typeface="DM Sans"/>
                <a:ea typeface="DM Sans"/>
                <a:cs typeface="DM Sans"/>
                <a:sym typeface="DM Sans"/>
              </a:rPr>
              <a:t>Promote Efficient Waste Management:</a:t>
            </a:r>
          </a:p>
          <a:p>
            <a:pPr marL="663773" lvl="1" indent="-331886" algn="l">
              <a:lnSpc>
                <a:spcPts val="3320"/>
              </a:lnSpc>
              <a:buAutoNum type="arabicPeriod"/>
            </a:pPr>
            <a:r>
              <a:rPr lang="en-US" sz="3074" dirty="0">
                <a:solidFill>
                  <a:srgbClr val="FFF6EA"/>
                </a:solidFill>
                <a:latin typeface="DM Sans"/>
                <a:ea typeface="DM Sans"/>
                <a:cs typeface="DM Sans"/>
                <a:sym typeface="DM Sans"/>
              </a:rPr>
              <a:t>Streamline Access to Barangay Services:</a:t>
            </a:r>
          </a:p>
        </p:txBody>
      </p:sp>
      <p:sp>
        <p:nvSpPr>
          <p:cNvPr id="27" name="TextBox 26">
            <a:extLst>
              <a:ext uri="{FF2B5EF4-FFF2-40B4-BE49-F238E27FC236}">
                <a16:creationId xmlns:a16="http://schemas.microsoft.com/office/drawing/2014/main" id="{CE7B77FC-5790-33A8-40DE-35809C9DD5C4}"/>
              </a:ext>
            </a:extLst>
          </p:cNvPr>
          <p:cNvSpPr txBox="1"/>
          <p:nvPr/>
        </p:nvSpPr>
        <p:spPr>
          <a:xfrm>
            <a:off x="304800" y="717044"/>
            <a:ext cx="8078855" cy="623312"/>
          </a:xfrm>
          <a:prstGeom prst="rect">
            <a:avLst/>
          </a:prstGeom>
          <a:noFill/>
        </p:spPr>
        <p:txBody>
          <a:bodyPr wrap="square">
            <a:spAutoFit/>
          </a:bodyPr>
          <a:lstStyle/>
          <a:p>
            <a:pPr marL="0" marR="0" lvl="0" indent="0" algn="l" defTabSz="914400" rtl="0" eaLnBrk="1" fontAlgn="auto" latinLnBrk="0" hangingPunct="1">
              <a:lnSpc>
                <a:spcPts val="4012"/>
              </a:lnSpc>
              <a:spcBef>
                <a:spcPts val="0"/>
              </a:spcBef>
              <a:spcAft>
                <a:spcPts val="0"/>
              </a:spcAft>
              <a:buClrTx/>
              <a:buSzTx/>
              <a:buFontTx/>
              <a:buNone/>
              <a:tabLst/>
              <a:defRPr/>
            </a:pPr>
            <a:r>
              <a:rPr kumimoji="0" lang="en-US" sz="4612" b="1" i="0" u="none" strike="noStrike" kern="1200" cap="none" spc="0" normalizeH="0" baseline="0" noProof="0" dirty="0">
                <a:ln>
                  <a:noFill/>
                </a:ln>
                <a:solidFill>
                  <a:schemeClr val="bg1">
                    <a:lumMod val="95000"/>
                  </a:schemeClr>
                </a:solidFill>
                <a:effectLst/>
                <a:uLnTx/>
                <a:uFillTx/>
                <a:latin typeface="Neue Machina Ultra-Bold"/>
                <a:ea typeface="Neue Machina Ultra-Bold"/>
                <a:cs typeface="Neue Machina Ultra-Bold"/>
                <a:sym typeface="Neue Machina Ultra-Bold"/>
              </a:rPr>
              <a:t>Objectives of the Study</a:t>
            </a:r>
          </a:p>
        </p:txBody>
      </p:sp>
      <p:grpSp>
        <p:nvGrpSpPr>
          <p:cNvPr id="31" name="Group 2">
            <a:extLst>
              <a:ext uri="{FF2B5EF4-FFF2-40B4-BE49-F238E27FC236}">
                <a16:creationId xmlns:a16="http://schemas.microsoft.com/office/drawing/2014/main" id="{7E0F60A8-4689-D39C-698F-1B520F49ED21}"/>
              </a:ext>
            </a:extLst>
          </p:cNvPr>
          <p:cNvGrpSpPr/>
          <p:nvPr/>
        </p:nvGrpSpPr>
        <p:grpSpPr>
          <a:xfrm>
            <a:off x="-544152" y="238707"/>
            <a:ext cx="8927807" cy="1513039"/>
            <a:chOff x="0" y="0"/>
            <a:chExt cx="1521629" cy="420143"/>
          </a:xfrm>
        </p:grpSpPr>
        <p:sp>
          <p:nvSpPr>
            <p:cNvPr id="32" name="Freeform 3">
              <a:extLst>
                <a:ext uri="{FF2B5EF4-FFF2-40B4-BE49-F238E27FC236}">
                  <a16:creationId xmlns:a16="http://schemas.microsoft.com/office/drawing/2014/main" id="{A92E053F-7D68-3E18-F229-F6F6DEE8541B}"/>
                </a:ext>
              </a:extLst>
            </p:cNvPr>
            <p:cNvSpPr/>
            <p:nvPr/>
          </p:nvSpPr>
          <p:spPr>
            <a:xfrm>
              <a:off x="0" y="0"/>
              <a:ext cx="1521629" cy="420143"/>
            </a:xfrm>
            <a:custGeom>
              <a:avLst/>
              <a:gdLst/>
              <a:ahLst/>
              <a:cxnLst/>
              <a:rect l="l" t="t" r="r" b="b"/>
              <a:pathLst>
                <a:path w="1521629" h="420143">
                  <a:moveTo>
                    <a:pt x="134003" y="0"/>
                  </a:moveTo>
                  <a:lnTo>
                    <a:pt x="1387626" y="0"/>
                  </a:lnTo>
                  <a:cubicBezTo>
                    <a:pt x="1423166" y="0"/>
                    <a:pt x="1457250" y="14118"/>
                    <a:pt x="1482380" y="39248"/>
                  </a:cubicBezTo>
                  <a:cubicBezTo>
                    <a:pt x="1507511" y="64379"/>
                    <a:pt x="1521629" y="98463"/>
                    <a:pt x="1521629" y="134003"/>
                  </a:cubicBezTo>
                  <a:lnTo>
                    <a:pt x="1521629" y="286140"/>
                  </a:lnTo>
                  <a:cubicBezTo>
                    <a:pt x="1521629" y="321680"/>
                    <a:pt x="1507511" y="355764"/>
                    <a:pt x="1482380" y="380894"/>
                  </a:cubicBezTo>
                  <a:cubicBezTo>
                    <a:pt x="1457250" y="406025"/>
                    <a:pt x="1423166" y="420143"/>
                    <a:pt x="1387626" y="420143"/>
                  </a:cubicBezTo>
                  <a:lnTo>
                    <a:pt x="134003" y="420143"/>
                  </a:lnTo>
                  <a:cubicBezTo>
                    <a:pt x="98463" y="420143"/>
                    <a:pt x="64379" y="406025"/>
                    <a:pt x="39248" y="380894"/>
                  </a:cubicBezTo>
                  <a:cubicBezTo>
                    <a:pt x="14118" y="355764"/>
                    <a:pt x="0" y="321680"/>
                    <a:pt x="0" y="286140"/>
                  </a:cubicBezTo>
                  <a:lnTo>
                    <a:pt x="0" y="134003"/>
                  </a:lnTo>
                  <a:cubicBezTo>
                    <a:pt x="0" y="98463"/>
                    <a:pt x="14118" y="64379"/>
                    <a:pt x="39248" y="39248"/>
                  </a:cubicBezTo>
                  <a:cubicBezTo>
                    <a:pt x="64379" y="14118"/>
                    <a:pt x="98463" y="0"/>
                    <a:pt x="134003" y="0"/>
                  </a:cubicBezTo>
                  <a:close/>
                </a:path>
              </a:pathLst>
            </a:custGeom>
            <a:solidFill>
              <a:srgbClr val="000000">
                <a:alpha val="0"/>
              </a:srgbClr>
            </a:solidFill>
            <a:ln w="38100" cap="rnd">
              <a:solidFill>
                <a:srgbClr val="FFFFFF"/>
              </a:solidFill>
              <a:prstDash val="solid"/>
              <a:round/>
            </a:ln>
          </p:spPr>
        </p:sp>
        <p:sp>
          <p:nvSpPr>
            <p:cNvPr id="33" name="TextBox 4">
              <a:extLst>
                <a:ext uri="{FF2B5EF4-FFF2-40B4-BE49-F238E27FC236}">
                  <a16:creationId xmlns:a16="http://schemas.microsoft.com/office/drawing/2014/main" id="{7EE8AD20-F3E3-CA75-B832-CE9227A4CCD6}"/>
                </a:ext>
              </a:extLst>
            </p:cNvPr>
            <p:cNvSpPr txBox="1"/>
            <p:nvPr/>
          </p:nvSpPr>
          <p:spPr>
            <a:xfrm>
              <a:off x="0" y="-28575"/>
              <a:ext cx="1521629" cy="448718"/>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6EA"/>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10896806" cy="1595230"/>
            <a:chOff x="0" y="0"/>
            <a:chExt cx="2869941" cy="420143"/>
          </a:xfrm>
        </p:grpSpPr>
        <p:sp>
          <p:nvSpPr>
            <p:cNvPr id="3" name="Freeform 3"/>
            <p:cNvSpPr/>
            <p:nvPr/>
          </p:nvSpPr>
          <p:spPr>
            <a:xfrm>
              <a:off x="0" y="0"/>
              <a:ext cx="2869941" cy="420143"/>
            </a:xfrm>
            <a:custGeom>
              <a:avLst/>
              <a:gdLst/>
              <a:ahLst/>
              <a:cxnLst/>
              <a:rect l="l" t="t" r="r" b="b"/>
              <a:pathLst>
                <a:path w="2869941" h="420143">
                  <a:moveTo>
                    <a:pt x="71048" y="0"/>
                  </a:moveTo>
                  <a:lnTo>
                    <a:pt x="2798893" y="0"/>
                  </a:lnTo>
                  <a:cubicBezTo>
                    <a:pt x="2838131" y="0"/>
                    <a:pt x="2869941" y="31809"/>
                    <a:pt x="2869941" y="71048"/>
                  </a:cubicBezTo>
                  <a:lnTo>
                    <a:pt x="2869941" y="349095"/>
                  </a:lnTo>
                  <a:cubicBezTo>
                    <a:pt x="2869941" y="388334"/>
                    <a:pt x="2838131" y="420143"/>
                    <a:pt x="2798893" y="420143"/>
                  </a:cubicBezTo>
                  <a:lnTo>
                    <a:pt x="71048" y="420143"/>
                  </a:lnTo>
                  <a:cubicBezTo>
                    <a:pt x="31809" y="420143"/>
                    <a:pt x="0" y="388334"/>
                    <a:pt x="0" y="349095"/>
                  </a:cubicBezTo>
                  <a:lnTo>
                    <a:pt x="0" y="71048"/>
                  </a:lnTo>
                  <a:cubicBezTo>
                    <a:pt x="0" y="31809"/>
                    <a:pt x="31809" y="0"/>
                    <a:pt x="71048" y="0"/>
                  </a:cubicBezTo>
                  <a:close/>
                </a:path>
              </a:pathLst>
            </a:custGeom>
            <a:solidFill>
              <a:srgbClr val="000000">
                <a:alpha val="0"/>
              </a:srgbClr>
            </a:solidFill>
            <a:ln w="38100" cap="rnd">
              <a:solidFill>
                <a:srgbClr val="401A17"/>
              </a:solidFill>
              <a:prstDash val="solid"/>
              <a:round/>
            </a:ln>
          </p:spPr>
        </p:sp>
        <p:sp>
          <p:nvSpPr>
            <p:cNvPr id="4" name="TextBox 4"/>
            <p:cNvSpPr txBox="1"/>
            <p:nvPr/>
          </p:nvSpPr>
          <p:spPr>
            <a:xfrm>
              <a:off x="0" y="-28575"/>
              <a:ext cx="2869941"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5D7D5"/>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TextBox 8"/>
          <p:cNvSpPr txBox="1"/>
          <p:nvPr/>
        </p:nvSpPr>
        <p:spPr>
          <a:xfrm>
            <a:off x="531708" y="1152525"/>
            <a:ext cx="8555142" cy="574267"/>
          </a:xfrm>
          <a:prstGeom prst="rect">
            <a:avLst/>
          </a:prstGeom>
        </p:spPr>
        <p:txBody>
          <a:bodyPr lIns="0" tIns="0" rIns="0" bIns="0" rtlCol="0" anchor="t">
            <a:spAutoFit/>
          </a:bodyPr>
          <a:lstStyle/>
          <a:p>
            <a:pPr algn="l">
              <a:lnSpc>
                <a:spcPts val="4012"/>
              </a:lnSpc>
            </a:pPr>
            <a:r>
              <a:rPr lang="en-US" sz="4612" b="1">
                <a:solidFill>
                  <a:srgbClr val="502521"/>
                </a:solidFill>
                <a:latin typeface="Neue Machina Ultra-Bold"/>
                <a:ea typeface="Neue Machina Ultra-Bold"/>
                <a:cs typeface="Neue Machina Ultra-Bold"/>
                <a:sym typeface="Neue Machina Ultra-Bold"/>
              </a:rPr>
              <a:t>Significance of the Study</a:t>
            </a:r>
          </a:p>
        </p:txBody>
      </p:sp>
      <p:grpSp>
        <p:nvGrpSpPr>
          <p:cNvPr id="11" name="Group 11"/>
          <p:cNvGrpSpPr/>
          <p:nvPr/>
        </p:nvGrpSpPr>
        <p:grpSpPr>
          <a:xfrm>
            <a:off x="15633392" y="973325"/>
            <a:ext cx="110750" cy="11075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13" name="TextBox 13"/>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4" name="Group 14"/>
          <p:cNvGrpSpPr/>
          <p:nvPr/>
        </p:nvGrpSpPr>
        <p:grpSpPr>
          <a:xfrm>
            <a:off x="15434100" y="973325"/>
            <a:ext cx="110750" cy="11075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5D7D5"/>
              </a:solidFill>
              <a:prstDash val="solid"/>
              <a:miter/>
            </a:ln>
          </p:spPr>
        </p:sp>
        <p:sp>
          <p:nvSpPr>
            <p:cNvPr id="16" name="TextBox 16"/>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7" name="TextBox 17"/>
          <p:cNvSpPr txBox="1"/>
          <p:nvPr/>
        </p:nvSpPr>
        <p:spPr>
          <a:xfrm>
            <a:off x="742951" y="4033381"/>
            <a:ext cx="16802097" cy="5082782"/>
          </a:xfrm>
          <a:prstGeom prst="rect">
            <a:avLst/>
          </a:prstGeom>
        </p:spPr>
        <p:txBody>
          <a:bodyPr lIns="0" tIns="0" rIns="0" bIns="0" rtlCol="0" anchor="t">
            <a:spAutoFit/>
          </a:bodyPr>
          <a:lstStyle/>
          <a:p>
            <a:pPr marL="620594" lvl="1" indent="-310297" algn="l">
              <a:lnSpc>
                <a:spcPts val="2874"/>
              </a:lnSpc>
              <a:buFont typeface="Arial"/>
              <a:buChar char="•"/>
            </a:pPr>
            <a:r>
              <a:rPr lang="en-US" sz="2874">
                <a:solidFill>
                  <a:srgbClr val="502521"/>
                </a:solidFill>
                <a:latin typeface="DM Sans"/>
                <a:ea typeface="DM Sans"/>
                <a:cs typeface="DM Sans"/>
                <a:sym typeface="DM Sans"/>
              </a:rPr>
              <a:t>Barangay Officials.  Barangay officials will streamline administrative tasks, improve communication, and promote accountability through AI-powered support. </a:t>
            </a:r>
          </a:p>
          <a:p>
            <a:pPr algn="l">
              <a:lnSpc>
                <a:spcPts val="2874"/>
              </a:lnSpc>
            </a:pPr>
            <a:endParaRPr lang="en-US" sz="2874">
              <a:solidFill>
                <a:srgbClr val="502521"/>
              </a:solidFill>
              <a:latin typeface="DM Sans"/>
              <a:ea typeface="DM Sans"/>
              <a:cs typeface="DM Sans"/>
              <a:sym typeface="DM Sans"/>
            </a:endParaRPr>
          </a:p>
          <a:p>
            <a:pPr marL="620594" lvl="1" indent="-310297" algn="l">
              <a:lnSpc>
                <a:spcPts val="2874"/>
              </a:lnSpc>
              <a:buFont typeface="Arial"/>
              <a:buChar char="•"/>
            </a:pPr>
            <a:r>
              <a:rPr lang="en-US" sz="2874">
                <a:solidFill>
                  <a:srgbClr val="502521"/>
                </a:solidFill>
                <a:latin typeface="DM Sans"/>
                <a:ea typeface="DM Sans"/>
                <a:cs typeface="DM Sans"/>
                <a:sym typeface="DM Sans"/>
              </a:rPr>
              <a:t>Residents of Barangay 174. Residents will gain better access to services via an interactive portal, online appointments, and an AI chatbot, fostering inclusivity. </a:t>
            </a:r>
          </a:p>
          <a:p>
            <a:pPr algn="l">
              <a:lnSpc>
                <a:spcPts val="2874"/>
              </a:lnSpc>
            </a:pPr>
            <a:endParaRPr lang="en-US" sz="2874">
              <a:solidFill>
                <a:srgbClr val="502521"/>
              </a:solidFill>
              <a:latin typeface="DM Sans"/>
              <a:ea typeface="DM Sans"/>
              <a:cs typeface="DM Sans"/>
              <a:sym typeface="DM Sans"/>
            </a:endParaRPr>
          </a:p>
          <a:p>
            <a:pPr marL="620594" lvl="1" indent="-310297" algn="l">
              <a:lnSpc>
                <a:spcPts val="2874"/>
              </a:lnSpc>
              <a:buFont typeface="Arial"/>
              <a:buChar char="•"/>
            </a:pPr>
            <a:r>
              <a:rPr lang="en-US" sz="2874">
                <a:solidFill>
                  <a:srgbClr val="502521"/>
                </a:solidFill>
                <a:latin typeface="DM Sans"/>
                <a:ea typeface="DM Sans"/>
                <a:cs typeface="DM Sans"/>
                <a:sym typeface="DM Sans"/>
              </a:rPr>
              <a:t>Local Businesses and Job Seekers. will connect through a job board and business directory, boosting economic growth. </a:t>
            </a:r>
          </a:p>
          <a:p>
            <a:pPr algn="l">
              <a:lnSpc>
                <a:spcPts val="2874"/>
              </a:lnSpc>
            </a:pPr>
            <a:endParaRPr lang="en-US" sz="2874">
              <a:solidFill>
                <a:srgbClr val="502521"/>
              </a:solidFill>
              <a:latin typeface="DM Sans"/>
              <a:ea typeface="DM Sans"/>
              <a:cs typeface="DM Sans"/>
              <a:sym typeface="DM Sans"/>
            </a:endParaRPr>
          </a:p>
          <a:p>
            <a:pPr marL="620594" lvl="1" indent="-310297" algn="l">
              <a:lnSpc>
                <a:spcPts val="2874"/>
              </a:lnSpc>
              <a:buFont typeface="Arial"/>
              <a:buChar char="•"/>
            </a:pPr>
            <a:r>
              <a:rPr lang="en-US" sz="2874">
                <a:solidFill>
                  <a:srgbClr val="502521"/>
                </a:solidFill>
                <a:latin typeface="DM Sans"/>
                <a:ea typeface="DM Sans"/>
                <a:cs typeface="DM Sans"/>
                <a:sym typeface="DM Sans"/>
              </a:rPr>
              <a:t>Environmental and Sanitation Officials.  will efficiently manage waste collection through smart monitoring tools.</a:t>
            </a:r>
          </a:p>
          <a:p>
            <a:pPr algn="l">
              <a:lnSpc>
                <a:spcPts val="2874"/>
              </a:lnSpc>
            </a:pPr>
            <a:endParaRPr lang="en-US" sz="2874">
              <a:solidFill>
                <a:srgbClr val="502521"/>
              </a:solidFill>
              <a:latin typeface="DM Sans"/>
              <a:ea typeface="DM Sans"/>
              <a:cs typeface="DM Sans"/>
              <a:sym typeface="DM Sans"/>
            </a:endParaRPr>
          </a:p>
          <a:p>
            <a:pPr marL="620594" lvl="1" indent="-310297" algn="l">
              <a:lnSpc>
                <a:spcPts val="2874"/>
              </a:lnSpc>
              <a:buFont typeface="Arial"/>
              <a:buChar char="•"/>
            </a:pPr>
            <a:r>
              <a:rPr lang="en-US" sz="2874">
                <a:solidFill>
                  <a:srgbClr val="502521"/>
                </a:solidFill>
                <a:latin typeface="DM Sans"/>
                <a:ea typeface="DM Sans"/>
                <a:cs typeface="DM Sans"/>
                <a:sym typeface="DM Sans"/>
              </a:rPr>
              <a:t>Future Researchers. can use this study as a foundation for exploring AI-driven governance in local communities.</a:t>
            </a:r>
          </a:p>
        </p:txBody>
      </p:sp>
      <p:sp>
        <p:nvSpPr>
          <p:cNvPr id="18" name="TextBox 18"/>
          <p:cNvSpPr txBox="1"/>
          <p:nvPr/>
        </p:nvSpPr>
        <p:spPr>
          <a:xfrm>
            <a:off x="1186887" y="2569241"/>
            <a:ext cx="16358162" cy="761459"/>
          </a:xfrm>
          <a:prstGeom prst="rect">
            <a:avLst/>
          </a:prstGeom>
        </p:spPr>
        <p:txBody>
          <a:bodyPr lIns="0" tIns="0" rIns="0" bIns="0" rtlCol="0" anchor="t">
            <a:spAutoFit/>
          </a:bodyPr>
          <a:lstStyle/>
          <a:p>
            <a:pPr algn="l">
              <a:lnSpc>
                <a:spcPts val="2974"/>
              </a:lnSpc>
              <a:spcBef>
                <a:spcPct val="0"/>
              </a:spcBef>
            </a:pPr>
            <a:r>
              <a:rPr lang="en-US" sz="2974">
                <a:solidFill>
                  <a:srgbClr val="502521"/>
                </a:solidFill>
                <a:latin typeface="DM Sans"/>
                <a:ea typeface="DM Sans"/>
                <a:cs typeface="DM Sans"/>
                <a:sym typeface="DM Sans"/>
              </a:rPr>
              <a:t>This study benefits various stakeholders by implementing a tech-driven system that enhances governance and community engagement.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5777435" cy="1595230"/>
            <a:chOff x="0" y="0"/>
            <a:chExt cx="1521629" cy="420143"/>
          </a:xfrm>
        </p:grpSpPr>
        <p:sp>
          <p:nvSpPr>
            <p:cNvPr id="3" name="Freeform 3"/>
            <p:cNvSpPr/>
            <p:nvPr/>
          </p:nvSpPr>
          <p:spPr>
            <a:xfrm>
              <a:off x="0" y="0"/>
              <a:ext cx="1521629" cy="420143"/>
            </a:xfrm>
            <a:custGeom>
              <a:avLst/>
              <a:gdLst/>
              <a:ahLst/>
              <a:cxnLst/>
              <a:rect l="l" t="t" r="r" b="b"/>
              <a:pathLst>
                <a:path w="1521629" h="420143">
                  <a:moveTo>
                    <a:pt x="134003" y="0"/>
                  </a:moveTo>
                  <a:lnTo>
                    <a:pt x="1387626" y="0"/>
                  </a:lnTo>
                  <a:cubicBezTo>
                    <a:pt x="1423166" y="0"/>
                    <a:pt x="1457250" y="14118"/>
                    <a:pt x="1482380" y="39248"/>
                  </a:cubicBezTo>
                  <a:cubicBezTo>
                    <a:pt x="1507511" y="64379"/>
                    <a:pt x="1521629" y="98463"/>
                    <a:pt x="1521629" y="134003"/>
                  </a:cubicBezTo>
                  <a:lnTo>
                    <a:pt x="1521629" y="286140"/>
                  </a:lnTo>
                  <a:cubicBezTo>
                    <a:pt x="1521629" y="321680"/>
                    <a:pt x="1507511" y="355764"/>
                    <a:pt x="1482380" y="380894"/>
                  </a:cubicBezTo>
                  <a:cubicBezTo>
                    <a:pt x="1457250" y="406025"/>
                    <a:pt x="1423166" y="420143"/>
                    <a:pt x="1387626" y="420143"/>
                  </a:cubicBezTo>
                  <a:lnTo>
                    <a:pt x="134003" y="420143"/>
                  </a:lnTo>
                  <a:cubicBezTo>
                    <a:pt x="98463" y="420143"/>
                    <a:pt x="64379" y="406025"/>
                    <a:pt x="39248" y="380894"/>
                  </a:cubicBezTo>
                  <a:cubicBezTo>
                    <a:pt x="14118" y="355764"/>
                    <a:pt x="0" y="321680"/>
                    <a:pt x="0" y="286140"/>
                  </a:cubicBezTo>
                  <a:lnTo>
                    <a:pt x="0" y="134003"/>
                  </a:lnTo>
                  <a:cubicBezTo>
                    <a:pt x="0" y="98463"/>
                    <a:pt x="14118" y="64379"/>
                    <a:pt x="39248" y="39248"/>
                  </a:cubicBezTo>
                  <a:cubicBezTo>
                    <a:pt x="64379" y="14118"/>
                    <a:pt x="98463" y="0"/>
                    <a:pt x="134003" y="0"/>
                  </a:cubicBezTo>
                  <a:close/>
                </a:path>
              </a:pathLst>
            </a:custGeom>
            <a:solidFill>
              <a:srgbClr val="000000">
                <a:alpha val="0"/>
              </a:srgbClr>
            </a:solidFill>
            <a:ln w="38100" cap="rnd">
              <a:solidFill>
                <a:srgbClr val="FFFFFF"/>
              </a:solidFill>
              <a:prstDash val="solid"/>
              <a:round/>
            </a:ln>
          </p:spPr>
        </p:sp>
        <p:sp>
          <p:nvSpPr>
            <p:cNvPr id="4" name="TextBox 4"/>
            <p:cNvSpPr txBox="1"/>
            <p:nvPr/>
          </p:nvSpPr>
          <p:spPr>
            <a:xfrm>
              <a:off x="0" y="-28575"/>
              <a:ext cx="1521629"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a:ln w="19050" cap="sq">
              <a:solidFill>
                <a:srgbClr val="6E332E"/>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0" name="Group 10"/>
          <p:cNvGrpSpPr/>
          <p:nvPr/>
        </p:nvGrpSpPr>
        <p:grpSpPr>
          <a:xfrm>
            <a:off x="15633392" y="973325"/>
            <a:ext cx="110750" cy="1107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332E"/>
            </a:solidFill>
          </p:spPr>
        </p:sp>
        <p:sp>
          <p:nvSpPr>
            <p:cNvPr id="12" name="TextBox 12"/>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3" name="Group 13"/>
          <p:cNvGrpSpPr/>
          <p:nvPr/>
        </p:nvGrpSpPr>
        <p:grpSpPr>
          <a:xfrm>
            <a:off x="15434100" y="973325"/>
            <a:ext cx="110750" cy="1107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a:ln w="19050" cap="sq">
              <a:solidFill>
                <a:srgbClr val="6E332E"/>
              </a:solidFill>
              <a:prstDash val="solid"/>
              <a:miter/>
            </a:ln>
          </p:spPr>
        </p:sp>
        <p:sp>
          <p:nvSpPr>
            <p:cNvPr id="15" name="TextBox 1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6" name="AutoShape 16"/>
          <p:cNvSpPr/>
          <p:nvPr/>
        </p:nvSpPr>
        <p:spPr>
          <a:xfrm>
            <a:off x="4257379" y="2519017"/>
            <a:ext cx="13534709" cy="4398143"/>
          </a:xfrm>
          <a:prstGeom prst="line">
            <a:avLst/>
          </a:prstGeom>
          <a:ln w="38100" cap="flat">
            <a:solidFill>
              <a:srgbClr val="6E332E"/>
            </a:solidFill>
            <a:prstDash val="solid"/>
            <a:headEnd type="oval" w="lg" len="lg"/>
            <a:tailEnd type="oval" w="lg" len="lg"/>
          </a:ln>
        </p:spPr>
      </p:sp>
      <p:sp>
        <p:nvSpPr>
          <p:cNvPr id="17" name="TextBox 17"/>
          <p:cNvSpPr txBox="1"/>
          <p:nvPr/>
        </p:nvSpPr>
        <p:spPr>
          <a:xfrm>
            <a:off x="1085850" y="1152525"/>
            <a:ext cx="2111917" cy="574267"/>
          </a:xfrm>
          <a:prstGeom prst="rect">
            <a:avLst/>
          </a:prstGeom>
        </p:spPr>
        <p:txBody>
          <a:bodyPr lIns="0" tIns="0" rIns="0" bIns="0" rtlCol="0" anchor="t">
            <a:spAutoFit/>
          </a:bodyPr>
          <a:lstStyle/>
          <a:p>
            <a:pPr algn="l">
              <a:lnSpc>
                <a:spcPts val="4012"/>
              </a:lnSpc>
            </a:pPr>
            <a:r>
              <a:rPr lang="en-US" sz="4612" b="1">
                <a:solidFill>
                  <a:srgbClr val="FFF6EA"/>
                </a:solidFill>
                <a:latin typeface="Neue Machina Ultra-Bold"/>
                <a:ea typeface="Neue Machina Ultra-Bold"/>
                <a:cs typeface="Neue Machina Ultra-Bold"/>
                <a:sym typeface="Neue Machina Ultra-Bold"/>
              </a:rPr>
              <a:t>Scope</a:t>
            </a:r>
          </a:p>
        </p:txBody>
      </p:sp>
      <p:sp>
        <p:nvSpPr>
          <p:cNvPr id="18" name="TextBox 18"/>
          <p:cNvSpPr txBox="1"/>
          <p:nvPr/>
        </p:nvSpPr>
        <p:spPr>
          <a:xfrm>
            <a:off x="1398157" y="3362312"/>
            <a:ext cx="7416978" cy="1461805"/>
          </a:xfrm>
          <a:prstGeom prst="rect">
            <a:avLst/>
          </a:prstGeom>
        </p:spPr>
        <p:txBody>
          <a:bodyPr lIns="0" tIns="0" rIns="0" bIns="0" rtlCol="0" anchor="t">
            <a:spAutoFit/>
          </a:bodyPr>
          <a:lstStyle/>
          <a:p>
            <a:pPr marL="610308" lvl="1" indent="-305154" algn="l">
              <a:lnSpc>
                <a:spcPts val="3957"/>
              </a:lnSpc>
              <a:buFont typeface="Arial"/>
              <a:buChar char="•"/>
            </a:pPr>
            <a:r>
              <a:rPr lang="en-US" sz="2826">
                <a:solidFill>
                  <a:srgbClr val="FFF6EA"/>
                </a:solidFill>
                <a:latin typeface="DM Sans"/>
                <a:ea typeface="DM Sans"/>
                <a:cs typeface="DM Sans"/>
                <a:sym typeface="DM Sans"/>
              </a:rPr>
              <a:t>AI-powered chatbot assistance for handling resident inquiries, complaints, and service requests</a:t>
            </a:r>
          </a:p>
        </p:txBody>
      </p:sp>
      <p:sp>
        <p:nvSpPr>
          <p:cNvPr id="19" name="TextBox 19"/>
          <p:cNvSpPr txBox="1"/>
          <p:nvPr/>
        </p:nvSpPr>
        <p:spPr>
          <a:xfrm>
            <a:off x="1360057" y="5087242"/>
            <a:ext cx="7416978" cy="989479"/>
          </a:xfrm>
          <a:prstGeom prst="rect">
            <a:avLst/>
          </a:prstGeom>
        </p:spPr>
        <p:txBody>
          <a:bodyPr lIns="0" tIns="0" rIns="0" bIns="0" rtlCol="0" anchor="t">
            <a:spAutoFit/>
          </a:bodyPr>
          <a:lstStyle/>
          <a:p>
            <a:pPr marL="555825" lvl="1" indent="-277913" algn="l">
              <a:lnSpc>
                <a:spcPts val="2574"/>
              </a:lnSpc>
              <a:buFont typeface="Arial"/>
              <a:buChar char="•"/>
            </a:pPr>
            <a:r>
              <a:rPr lang="en-US" sz="2574">
                <a:solidFill>
                  <a:srgbClr val="FFF6EA"/>
                </a:solidFill>
                <a:latin typeface="DM Sans"/>
                <a:ea typeface="DM Sans"/>
                <a:cs typeface="DM Sans"/>
                <a:sym typeface="DM Sans"/>
              </a:rPr>
              <a:t>QR code-based resident ID and document verification to simplify transactions and prevent fraud.</a:t>
            </a:r>
          </a:p>
        </p:txBody>
      </p:sp>
      <p:sp>
        <p:nvSpPr>
          <p:cNvPr id="20" name="TextBox 20"/>
          <p:cNvSpPr txBox="1"/>
          <p:nvPr/>
        </p:nvSpPr>
        <p:spPr>
          <a:xfrm>
            <a:off x="1360057" y="6224384"/>
            <a:ext cx="7679591" cy="989479"/>
          </a:xfrm>
          <a:prstGeom prst="rect">
            <a:avLst/>
          </a:prstGeom>
        </p:spPr>
        <p:txBody>
          <a:bodyPr lIns="0" tIns="0" rIns="0" bIns="0" rtlCol="0" anchor="t">
            <a:spAutoFit/>
          </a:bodyPr>
          <a:lstStyle/>
          <a:p>
            <a:pPr marL="555825" lvl="1" indent="-277913" algn="l">
              <a:lnSpc>
                <a:spcPts val="2574"/>
              </a:lnSpc>
              <a:buFont typeface="Arial"/>
              <a:buChar char="•"/>
            </a:pPr>
            <a:r>
              <a:rPr lang="en-US" sz="2574">
                <a:solidFill>
                  <a:srgbClr val="FFF6EA"/>
                </a:solidFill>
                <a:latin typeface="DM Sans"/>
                <a:ea typeface="DM Sans"/>
                <a:cs typeface="DM Sans"/>
                <a:sym typeface="DM Sans"/>
              </a:rPr>
              <a:t>Digital event suggestion page to encourage community engagement by allowing residents to propose and view local events.</a:t>
            </a:r>
          </a:p>
        </p:txBody>
      </p:sp>
      <p:sp>
        <p:nvSpPr>
          <p:cNvPr id="21" name="TextBox 21"/>
          <p:cNvSpPr txBox="1"/>
          <p:nvPr/>
        </p:nvSpPr>
        <p:spPr>
          <a:xfrm>
            <a:off x="1360057" y="7613008"/>
            <a:ext cx="7416978" cy="989479"/>
          </a:xfrm>
          <a:prstGeom prst="rect">
            <a:avLst/>
          </a:prstGeom>
        </p:spPr>
        <p:txBody>
          <a:bodyPr lIns="0" tIns="0" rIns="0" bIns="0" rtlCol="0" anchor="t">
            <a:spAutoFit/>
          </a:bodyPr>
          <a:lstStyle/>
          <a:p>
            <a:pPr marL="555825" lvl="1" indent="-277913" algn="just">
              <a:lnSpc>
                <a:spcPts val="2574"/>
              </a:lnSpc>
              <a:buFont typeface="Arial"/>
              <a:buChar char="•"/>
            </a:pPr>
            <a:r>
              <a:rPr lang="en-US" sz="2574">
                <a:solidFill>
                  <a:srgbClr val="FFF6EA"/>
                </a:solidFill>
                <a:latin typeface="DM Sans"/>
                <a:ea typeface="DM Sans"/>
                <a:cs typeface="DM Sans"/>
                <a:sym typeface="DM Sans"/>
              </a:rPr>
              <a:t>Online job board and skill directory to support employment opportunities and local businesses.</a:t>
            </a:r>
          </a:p>
        </p:txBody>
      </p:sp>
      <p:sp>
        <p:nvSpPr>
          <p:cNvPr id="22" name="TextBox 22"/>
          <p:cNvSpPr txBox="1"/>
          <p:nvPr/>
        </p:nvSpPr>
        <p:spPr>
          <a:xfrm>
            <a:off x="9745654" y="3457562"/>
            <a:ext cx="7759278" cy="665574"/>
          </a:xfrm>
          <a:prstGeom prst="rect">
            <a:avLst/>
          </a:prstGeom>
        </p:spPr>
        <p:txBody>
          <a:bodyPr lIns="0" tIns="0" rIns="0" bIns="0" rtlCol="0" anchor="t">
            <a:spAutoFit/>
          </a:bodyPr>
          <a:lstStyle/>
          <a:p>
            <a:pPr marL="555825" lvl="1" indent="-277913" algn="l">
              <a:lnSpc>
                <a:spcPts val="2574"/>
              </a:lnSpc>
              <a:buFont typeface="Arial"/>
              <a:buChar char="•"/>
            </a:pPr>
            <a:r>
              <a:rPr lang="en-US" sz="2574">
                <a:solidFill>
                  <a:srgbClr val="FFF6EA"/>
                </a:solidFill>
                <a:latin typeface="DM Sans"/>
                <a:ea typeface="DM Sans"/>
                <a:cs typeface="DM Sans"/>
                <a:sym typeface="DM Sans"/>
              </a:rPr>
              <a:t>Language content filtering to maintain a safe and respectful digital environment.</a:t>
            </a:r>
          </a:p>
        </p:txBody>
      </p:sp>
      <p:sp>
        <p:nvSpPr>
          <p:cNvPr id="23" name="TextBox 23"/>
          <p:cNvSpPr txBox="1"/>
          <p:nvPr/>
        </p:nvSpPr>
        <p:spPr>
          <a:xfrm>
            <a:off x="9745654" y="5050037"/>
            <a:ext cx="7261517" cy="989479"/>
          </a:xfrm>
          <a:prstGeom prst="rect">
            <a:avLst/>
          </a:prstGeom>
        </p:spPr>
        <p:txBody>
          <a:bodyPr lIns="0" tIns="0" rIns="0" bIns="0" rtlCol="0" anchor="t">
            <a:spAutoFit/>
          </a:bodyPr>
          <a:lstStyle/>
          <a:p>
            <a:pPr marL="555825" lvl="1" indent="-277913" algn="l">
              <a:lnSpc>
                <a:spcPts val="2574"/>
              </a:lnSpc>
              <a:buFont typeface="Arial"/>
              <a:buChar char="•"/>
            </a:pPr>
            <a:r>
              <a:rPr lang="en-US" sz="2574">
                <a:solidFill>
                  <a:srgbClr val="FFF6EA"/>
                </a:solidFill>
                <a:latin typeface="DM Sans"/>
                <a:ea typeface="DM Sans"/>
                <a:cs typeface="DM Sans"/>
                <a:sym typeface="DM Sans"/>
              </a:rPr>
              <a:t>Smart waste management monitoring for tracking garbage collection schedules and reporting uncollected waste.</a:t>
            </a:r>
          </a:p>
        </p:txBody>
      </p:sp>
      <p:sp>
        <p:nvSpPr>
          <p:cNvPr id="24" name="TextBox 24"/>
          <p:cNvSpPr txBox="1"/>
          <p:nvPr/>
        </p:nvSpPr>
        <p:spPr>
          <a:xfrm>
            <a:off x="9745654" y="6812989"/>
            <a:ext cx="7627064" cy="1637287"/>
          </a:xfrm>
          <a:prstGeom prst="rect">
            <a:avLst/>
          </a:prstGeom>
        </p:spPr>
        <p:txBody>
          <a:bodyPr lIns="0" tIns="0" rIns="0" bIns="0" rtlCol="0" anchor="t">
            <a:spAutoFit/>
          </a:bodyPr>
          <a:lstStyle/>
          <a:p>
            <a:pPr marL="555825" lvl="1" indent="-277913" algn="l">
              <a:lnSpc>
                <a:spcPts val="2574"/>
              </a:lnSpc>
              <a:buFont typeface="Arial"/>
              <a:buChar char="•"/>
            </a:pPr>
            <a:r>
              <a:rPr lang="en-US" sz="2574">
                <a:solidFill>
                  <a:srgbClr val="FFF6EA"/>
                </a:solidFill>
                <a:latin typeface="DM Sans"/>
                <a:ea typeface="DM Sans"/>
                <a:cs typeface="DM Sans"/>
                <a:sym typeface="DM Sans"/>
              </a:rPr>
              <a:t>Essential barangay services, including an online appointment system for document requests, updated emergency hotlines, an interactive business address map, and a shared calendar for barangay activities.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6EA"/>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6512817" cy="1595230"/>
            <a:chOff x="0" y="0"/>
            <a:chExt cx="1715310" cy="420143"/>
          </a:xfrm>
        </p:grpSpPr>
        <p:sp>
          <p:nvSpPr>
            <p:cNvPr id="3" name="Freeform 3"/>
            <p:cNvSpPr/>
            <p:nvPr/>
          </p:nvSpPr>
          <p:spPr>
            <a:xfrm>
              <a:off x="0" y="0"/>
              <a:ext cx="1715310" cy="420143"/>
            </a:xfrm>
            <a:custGeom>
              <a:avLst/>
              <a:gdLst/>
              <a:ahLst/>
              <a:cxnLst/>
              <a:rect l="l" t="t" r="r" b="b"/>
              <a:pathLst>
                <a:path w="1715310" h="420143">
                  <a:moveTo>
                    <a:pt x="118872" y="0"/>
                  </a:moveTo>
                  <a:lnTo>
                    <a:pt x="1596438" y="0"/>
                  </a:lnTo>
                  <a:cubicBezTo>
                    <a:pt x="1627964" y="0"/>
                    <a:pt x="1658200" y="12524"/>
                    <a:pt x="1680493" y="34817"/>
                  </a:cubicBezTo>
                  <a:cubicBezTo>
                    <a:pt x="1702786" y="57110"/>
                    <a:pt x="1715310" y="87345"/>
                    <a:pt x="1715310" y="118872"/>
                  </a:cubicBezTo>
                  <a:lnTo>
                    <a:pt x="1715310" y="301271"/>
                  </a:lnTo>
                  <a:cubicBezTo>
                    <a:pt x="1715310" y="366922"/>
                    <a:pt x="1662089" y="420143"/>
                    <a:pt x="1596438" y="420143"/>
                  </a:cubicBezTo>
                  <a:lnTo>
                    <a:pt x="118872" y="420143"/>
                  </a:lnTo>
                  <a:cubicBezTo>
                    <a:pt x="87345" y="420143"/>
                    <a:pt x="57110" y="407619"/>
                    <a:pt x="34817" y="385326"/>
                  </a:cubicBezTo>
                  <a:cubicBezTo>
                    <a:pt x="12524" y="363033"/>
                    <a:pt x="0" y="332798"/>
                    <a:pt x="0" y="301271"/>
                  </a:cubicBezTo>
                  <a:lnTo>
                    <a:pt x="0" y="118872"/>
                  </a:lnTo>
                  <a:cubicBezTo>
                    <a:pt x="0" y="87345"/>
                    <a:pt x="12524" y="57110"/>
                    <a:pt x="34817" y="34817"/>
                  </a:cubicBezTo>
                  <a:cubicBezTo>
                    <a:pt x="57110" y="12524"/>
                    <a:pt x="87345" y="0"/>
                    <a:pt x="118872" y="0"/>
                  </a:cubicBezTo>
                  <a:close/>
                </a:path>
              </a:pathLst>
            </a:custGeom>
            <a:solidFill>
              <a:srgbClr val="000000">
                <a:alpha val="0"/>
              </a:srgbClr>
            </a:solidFill>
            <a:ln w="38100" cap="rnd">
              <a:solidFill>
                <a:srgbClr val="6E332E"/>
              </a:solidFill>
              <a:prstDash val="solid"/>
              <a:round/>
            </a:ln>
          </p:spPr>
        </p:sp>
        <p:sp>
          <p:nvSpPr>
            <p:cNvPr id="4" name="TextBox 4"/>
            <p:cNvSpPr txBox="1"/>
            <p:nvPr/>
          </p:nvSpPr>
          <p:spPr>
            <a:xfrm>
              <a:off x="0" y="-28575"/>
              <a:ext cx="1715310"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a:ln w="19050" cap="sq">
              <a:solidFill>
                <a:srgbClr val="6E332E"/>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0" name="Group 10"/>
          <p:cNvGrpSpPr/>
          <p:nvPr/>
        </p:nvGrpSpPr>
        <p:grpSpPr>
          <a:xfrm>
            <a:off x="15633392" y="973325"/>
            <a:ext cx="110750" cy="1107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332E"/>
            </a:solidFill>
          </p:spPr>
        </p:sp>
        <p:sp>
          <p:nvSpPr>
            <p:cNvPr id="12" name="TextBox 12"/>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3" name="Group 13"/>
          <p:cNvGrpSpPr/>
          <p:nvPr/>
        </p:nvGrpSpPr>
        <p:grpSpPr>
          <a:xfrm>
            <a:off x="15434100" y="973325"/>
            <a:ext cx="110750" cy="1107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a:ln w="19050" cap="sq">
              <a:solidFill>
                <a:srgbClr val="6E332E"/>
              </a:solidFill>
              <a:prstDash val="solid"/>
              <a:miter/>
            </a:ln>
          </p:spPr>
        </p:sp>
        <p:sp>
          <p:nvSpPr>
            <p:cNvPr id="15" name="TextBox 1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7" name="TextBox 17"/>
          <p:cNvSpPr txBox="1"/>
          <p:nvPr/>
        </p:nvSpPr>
        <p:spPr>
          <a:xfrm>
            <a:off x="878343" y="1152525"/>
            <a:ext cx="4171152" cy="574267"/>
          </a:xfrm>
          <a:prstGeom prst="rect">
            <a:avLst/>
          </a:prstGeom>
        </p:spPr>
        <p:txBody>
          <a:bodyPr lIns="0" tIns="0" rIns="0" bIns="0" rtlCol="0" anchor="t">
            <a:spAutoFit/>
          </a:bodyPr>
          <a:lstStyle/>
          <a:p>
            <a:pPr algn="l">
              <a:lnSpc>
                <a:spcPts val="4012"/>
              </a:lnSpc>
            </a:pPr>
            <a:r>
              <a:rPr lang="en-US" sz="4612" b="1">
                <a:solidFill>
                  <a:srgbClr val="502521"/>
                </a:solidFill>
                <a:latin typeface="Neue Machina Ultra-Bold"/>
                <a:ea typeface="Neue Machina Ultra-Bold"/>
                <a:cs typeface="Neue Machina Ultra-Bold"/>
                <a:sym typeface="Neue Machina Ultra-Bold"/>
              </a:rPr>
              <a:t>Limitation</a:t>
            </a:r>
          </a:p>
        </p:txBody>
      </p:sp>
      <p:sp>
        <p:nvSpPr>
          <p:cNvPr id="18" name="TextBox 18"/>
          <p:cNvSpPr txBox="1"/>
          <p:nvPr/>
        </p:nvSpPr>
        <p:spPr>
          <a:xfrm>
            <a:off x="1358627" y="3163469"/>
            <a:ext cx="7416978" cy="1774252"/>
          </a:xfrm>
          <a:prstGeom prst="rect">
            <a:avLst/>
          </a:prstGeom>
        </p:spPr>
        <p:txBody>
          <a:bodyPr lIns="0" tIns="0" rIns="0" bIns="0" rtlCol="0" anchor="t">
            <a:spAutoFit/>
          </a:bodyPr>
          <a:lstStyle/>
          <a:p>
            <a:pPr marL="545540" lvl="1" indent="-272770" algn="l">
              <a:lnSpc>
                <a:spcPts val="3537"/>
              </a:lnSpc>
              <a:buFont typeface="Arial"/>
              <a:buChar char="•"/>
            </a:pPr>
            <a:r>
              <a:rPr lang="en-US" sz="2526">
                <a:solidFill>
                  <a:srgbClr val="502521"/>
                </a:solidFill>
                <a:latin typeface="DM Sans"/>
                <a:ea typeface="DM Sans"/>
                <a:cs typeface="DM Sans"/>
                <a:sym typeface="DM Sans"/>
              </a:rPr>
              <a:t>Limited to Barangay 174 – The system is specifically designed for Barangay 174 and may not be directly applicable to other barangays without customization.</a:t>
            </a:r>
          </a:p>
        </p:txBody>
      </p:sp>
      <p:sp>
        <p:nvSpPr>
          <p:cNvPr id="19" name="TextBox 19"/>
          <p:cNvSpPr txBox="1"/>
          <p:nvPr/>
        </p:nvSpPr>
        <p:spPr>
          <a:xfrm>
            <a:off x="1358627" y="5290165"/>
            <a:ext cx="7416978" cy="1313383"/>
          </a:xfrm>
          <a:prstGeom prst="rect">
            <a:avLst/>
          </a:prstGeom>
        </p:spPr>
        <p:txBody>
          <a:bodyPr lIns="0" tIns="0" rIns="0" bIns="0" rtlCol="0" anchor="t">
            <a:spAutoFit/>
          </a:bodyPr>
          <a:lstStyle/>
          <a:p>
            <a:pPr marL="555825" lvl="1" indent="-277913" algn="l">
              <a:lnSpc>
                <a:spcPts val="2574"/>
              </a:lnSpc>
              <a:buFont typeface="Arial"/>
              <a:buChar char="•"/>
            </a:pPr>
            <a:r>
              <a:rPr lang="en-US" sz="2574">
                <a:solidFill>
                  <a:srgbClr val="502521"/>
                </a:solidFill>
                <a:latin typeface="DM Sans"/>
                <a:ea typeface="DM Sans"/>
                <a:cs typeface="DM Sans"/>
                <a:sym typeface="DM Sans"/>
              </a:rPr>
              <a:t>Internet Dependency – Since it is a web-based system, residents without stable internet access may experience difficulties using some features.</a:t>
            </a:r>
          </a:p>
        </p:txBody>
      </p:sp>
      <p:sp>
        <p:nvSpPr>
          <p:cNvPr id="20" name="TextBox 20"/>
          <p:cNvSpPr txBox="1"/>
          <p:nvPr/>
        </p:nvSpPr>
        <p:spPr>
          <a:xfrm>
            <a:off x="1358627" y="7049799"/>
            <a:ext cx="7416978" cy="1637287"/>
          </a:xfrm>
          <a:prstGeom prst="rect">
            <a:avLst/>
          </a:prstGeom>
        </p:spPr>
        <p:txBody>
          <a:bodyPr lIns="0" tIns="0" rIns="0" bIns="0" rtlCol="0" anchor="t">
            <a:spAutoFit/>
          </a:bodyPr>
          <a:lstStyle/>
          <a:p>
            <a:pPr marL="555825" lvl="1" indent="-277913" algn="l">
              <a:lnSpc>
                <a:spcPts val="2574"/>
              </a:lnSpc>
              <a:buFont typeface="Arial"/>
              <a:buChar char="•"/>
            </a:pPr>
            <a:r>
              <a:rPr lang="en-US" sz="2574" dirty="0">
                <a:solidFill>
                  <a:srgbClr val="502521"/>
                </a:solidFill>
                <a:latin typeface="DM Sans"/>
                <a:ea typeface="DM Sans"/>
                <a:cs typeface="DM Sans"/>
                <a:sym typeface="DM Sans"/>
              </a:rPr>
              <a:t>Initial User Adoption – Some residents and barangay officials who are not familiar with digital platforms may require training to effectively use the system.</a:t>
            </a:r>
          </a:p>
          <a:p>
            <a:pPr algn="ctr">
              <a:lnSpc>
                <a:spcPts val="2574"/>
              </a:lnSpc>
              <a:spcBef>
                <a:spcPct val="0"/>
              </a:spcBef>
            </a:pPr>
            <a:endParaRPr lang="en-US" sz="2574" dirty="0">
              <a:solidFill>
                <a:srgbClr val="502521"/>
              </a:solidFill>
              <a:latin typeface="DM Sans"/>
              <a:ea typeface="DM Sans"/>
              <a:cs typeface="DM Sans"/>
              <a:sym typeface="DM Sans"/>
            </a:endParaRPr>
          </a:p>
        </p:txBody>
      </p:sp>
      <p:sp>
        <p:nvSpPr>
          <p:cNvPr id="21" name="TextBox 21"/>
          <p:cNvSpPr txBox="1"/>
          <p:nvPr/>
        </p:nvSpPr>
        <p:spPr>
          <a:xfrm>
            <a:off x="9011264" y="3325394"/>
            <a:ext cx="6799434" cy="1313383"/>
          </a:xfrm>
          <a:prstGeom prst="rect">
            <a:avLst/>
          </a:prstGeom>
        </p:spPr>
        <p:txBody>
          <a:bodyPr lIns="0" tIns="0" rIns="0" bIns="0" rtlCol="0" anchor="t">
            <a:spAutoFit/>
          </a:bodyPr>
          <a:lstStyle/>
          <a:p>
            <a:pPr marL="555825" lvl="1" indent="-277913" algn="l">
              <a:lnSpc>
                <a:spcPts val="2574"/>
              </a:lnSpc>
              <a:buFont typeface="Arial"/>
              <a:buChar char="•"/>
            </a:pPr>
            <a:r>
              <a:rPr lang="en-US" sz="2574" dirty="0">
                <a:solidFill>
                  <a:srgbClr val="502521"/>
                </a:solidFill>
                <a:latin typeface="DM Sans"/>
                <a:ea typeface="DM Sans"/>
                <a:cs typeface="DM Sans"/>
                <a:sym typeface="DM Sans"/>
              </a:rPr>
              <a:t>AI Chatbot Limitations – While the AI chatbot can assist with basic inquiries, it may not fully replace human interactions for complex concerns.</a:t>
            </a:r>
          </a:p>
        </p:txBody>
      </p:sp>
      <p:sp>
        <p:nvSpPr>
          <p:cNvPr id="22" name="TextBox 22"/>
          <p:cNvSpPr txBox="1"/>
          <p:nvPr/>
        </p:nvSpPr>
        <p:spPr>
          <a:xfrm>
            <a:off x="9011264" y="5211409"/>
            <a:ext cx="7469995" cy="1313383"/>
          </a:xfrm>
          <a:prstGeom prst="rect">
            <a:avLst/>
          </a:prstGeom>
        </p:spPr>
        <p:txBody>
          <a:bodyPr lIns="0" tIns="0" rIns="0" bIns="0" rtlCol="0" anchor="t">
            <a:spAutoFit/>
          </a:bodyPr>
          <a:lstStyle/>
          <a:p>
            <a:pPr marL="555825" lvl="1" indent="-277913" algn="l">
              <a:lnSpc>
                <a:spcPts val="2574"/>
              </a:lnSpc>
              <a:buFont typeface="Arial"/>
              <a:buChar char="•"/>
            </a:pPr>
            <a:r>
              <a:rPr lang="en-US" sz="2574">
                <a:solidFill>
                  <a:srgbClr val="502521"/>
                </a:solidFill>
                <a:latin typeface="DM Sans"/>
                <a:ea typeface="DM Sans"/>
                <a:cs typeface="DM Sans"/>
                <a:sym typeface="DM Sans"/>
              </a:rPr>
              <a:t>Data Privacy and Security – The system will implement standard security measures, but potential cyber threats and data breaches remain a challenge.</a:t>
            </a:r>
          </a:p>
        </p:txBody>
      </p:sp>
      <p:sp>
        <p:nvSpPr>
          <p:cNvPr id="23" name="TextBox 23"/>
          <p:cNvSpPr txBox="1"/>
          <p:nvPr/>
        </p:nvSpPr>
        <p:spPr>
          <a:xfrm>
            <a:off x="9050805" y="6983124"/>
            <a:ext cx="7219462" cy="1539362"/>
          </a:xfrm>
          <a:prstGeom prst="rect">
            <a:avLst/>
          </a:prstGeom>
        </p:spPr>
        <p:txBody>
          <a:bodyPr lIns="0" tIns="0" rIns="0" bIns="0" rtlCol="0" anchor="t">
            <a:spAutoFit/>
          </a:bodyPr>
          <a:lstStyle/>
          <a:p>
            <a:pPr marL="534236" lvl="1" indent="-267118" algn="l">
              <a:lnSpc>
                <a:spcPts val="2474"/>
              </a:lnSpc>
              <a:buFont typeface="Arial"/>
              <a:buChar char="•"/>
            </a:pPr>
            <a:r>
              <a:rPr lang="en-US" sz="2474">
                <a:solidFill>
                  <a:srgbClr val="502521"/>
                </a:solidFill>
                <a:latin typeface="DM Sans"/>
                <a:ea typeface="DM Sans"/>
                <a:cs typeface="DM Sans"/>
                <a:sym typeface="DM Sans"/>
              </a:rPr>
              <a:t>External System Dependencies – Features such as Google Maps integration and QR-based verification rely on third-party services, which could be affected by external technical issues or changes in policies.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9103620" cy="1595230"/>
            <a:chOff x="0" y="0"/>
            <a:chExt cx="2397661" cy="420143"/>
          </a:xfrm>
        </p:grpSpPr>
        <p:sp>
          <p:nvSpPr>
            <p:cNvPr id="3" name="Freeform 3"/>
            <p:cNvSpPr/>
            <p:nvPr/>
          </p:nvSpPr>
          <p:spPr>
            <a:xfrm>
              <a:off x="0" y="0"/>
              <a:ext cx="2397661" cy="420143"/>
            </a:xfrm>
            <a:custGeom>
              <a:avLst/>
              <a:gdLst/>
              <a:ahLst/>
              <a:cxnLst/>
              <a:rect l="l" t="t" r="r" b="b"/>
              <a:pathLst>
                <a:path w="2397661" h="420143">
                  <a:moveTo>
                    <a:pt x="85042" y="0"/>
                  </a:moveTo>
                  <a:lnTo>
                    <a:pt x="2312619" y="0"/>
                  </a:lnTo>
                  <a:cubicBezTo>
                    <a:pt x="2335174" y="0"/>
                    <a:pt x="2356804" y="8960"/>
                    <a:pt x="2372753" y="24908"/>
                  </a:cubicBezTo>
                  <a:cubicBezTo>
                    <a:pt x="2388701" y="40857"/>
                    <a:pt x="2397661" y="62488"/>
                    <a:pt x="2397661" y="85042"/>
                  </a:cubicBezTo>
                  <a:lnTo>
                    <a:pt x="2397661" y="335101"/>
                  </a:lnTo>
                  <a:cubicBezTo>
                    <a:pt x="2397661" y="382068"/>
                    <a:pt x="2359587" y="420143"/>
                    <a:pt x="2312619" y="420143"/>
                  </a:cubicBezTo>
                  <a:lnTo>
                    <a:pt x="85042" y="420143"/>
                  </a:lnTo>
                  <a:cubicBezTo>
                    <a:pt x="62488" y="420143"/>
                    <a:pt x="40857" y="411183"/>
                    <a:pt x="24908" y="395235"/>
                  </a:cubicBezTo>
                  <a:cubicBezTo>
                    <a:pt x="8960" y="379286"/>
                    <a:pt x="0" y="357655"/>
                    <a:pt x="0" y="335101"/>
                  </a:cubicBezTo>
                  <a:lnTo>
                    <a:pt x="0" y="85042"/>
                  </a:lnTo>
                  <a:cubicBezTo>
                    <a:pt x="0" y="62488"/>
                    <a:pt x="8960" y="40857"/>
                    <a:pt x="24908" y="24908"/>
                  </a:cubicBezTo>
                  <a:cubicBezTo>
                    <a:pt x="40857" y="8960"/>
                    <a:pt x="62488" y="0"/>
                    <a:pt x="85042" y="0"/>
                  </a:cubicBezTo>
                  <a:close/>
                </a:path>
              </a:pathLst>
            </a:custGeom>
            <a:solidFill>
              <a:srgbClr val="000000">
                <a:alpha val="0"/>
              </a:srgbClr>
            </a:solidFill>
            <a:ln w="38100" cap="rnd">
              <a:solidFill>
                <a:srgbClr val="D5D7D5"/>
              </a:solidFill>
              <a:prstDash val="solid"/>
              <a:round/>
            </a:ln>
          </p:spPr>
        </p:sp>
        <p:sp>
          <p:nvSpPr>
            <p:cNvPr id="4" name="TextBox 4"/>
            <p:cNvSpPr txBox="1"/>
            <p:nvPr/>
          </p:nvSpPr>
          <p:spPr>
            <a:xfrm>
              <a:off x="0" y="-28575"/>
              <a:ext cx="2397661"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5D7D5"/>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TextBox 8"/>
          <p:cNvSpPr txBox="1"/>
          <p:nvPr/>
        </p:nvSpPr>
        <p:spPr>
          <a:xfrm>
            <a:off x="904875" y="1170875"/>
            <a:ext cx="6281977" cy="574267"/>
          </a:xfrm>
          <a:prstGeom prst="rect">
            <a:avLst/>
          </a:prstGeom>
        </p:spPr>
        <p:txBody>
          <a:bodyPr lIns="0" tIns="0" rIns="0" bIns="0" rtlCol="0" anchor="t">
            <a:spAutoFit/>
          </a:bodyPr>
          <a:lstStyle/>
          <a:p>
            <a:pPr algn="l">
              <a:lnSpc>
                <a:spcPts val="4012"/>
              </a:lnSpc>
            </a:pPr>
            <a:r>
              <a:rPr lang="en-US" sz="4612" b="1">
                <a:solidFill>
                  <a:srgbClr val="FFFFFF"/>
                </a:solidFill>
                <a:latin typeface="Neue Machina Ultra-Bold"/>
                <a:ea typeface="Neue Machina Ultra-Bold"/>
                <a:cs typeface="Neue Machina Ultra-Bold"/>
                <a:sym typeface="Neue Machina Ultra-Bold"/>
              </a:rPr>
              <a:t>Related Literature</a:t>
            </a:r>
          </a:p>
        </p:txBody>
      </p:sp>
      <p:grpSp>
        <p:nvGrpSpPr>
          <p:cNvPr id="11" name="Group 11"/>
          <p:cNvGrpSpPr/>
          <p:nvPr/>
        </p:nvGrpSpPr>
        <p:grpSpPr>
          <a:xfrm>
            <a:off x="15633392" y="973325"/>
            <a:ext cx="110750" cy="11075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13" name="TextBox 13"/>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4" name="Group 14"/>
          <p:cNvGrpSpPr/>
          <p:nvPr/>
        </p:nvGrpSpPr>
        <p:grpSpPr>
          <a:xfrm>
            <a:off x="15434100" y="973325"/>
            <a:ext cx="110750" cy="11075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5D7D5"/>
              </a:solidFill>
              <a:prstDash val="solid"/>
              <a:miter/>
            </a:ln>
          </p:spPr>
        </p:sp>
        <p:sp>
          <p:nvSpPr>
            <p:cNvPr id="16" name="TextBox 16"/>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7" name="TextBox 17"/>
          <p:cNvSpPr txBox="1"/>
          <p:nvPr/>
        </p:nvSpPr>
        <p:spPr>
          <a:xfrm>
            <a:off x="1691748" y="4076700"/>
            <a:ext cx="14461407" cy="1344281"/>
          </a:xfrm>
          <a:prstGeom prst="rect">
            <a:avLst/>
          </a:prstGeom>
        </p:spPr>
        <p:txBody>
          <a:bodyPr lIns="0" tIns="0" rIns="0" bIns="0" rtlCol="0" anchor="t">
            <a:spAutoFit/>
          </a:bodyPr>
          <a:lstStyle/>
          <a:p>
            <a:pPr algn="just">
              <a:lnSpc>
                <a:spcPts val="2674"/>
              </a:lnSpc>
              <a:spcBef>
                <a:spcPct val="0"/>
              </a:spcBef>
            </a:pPr>
            <a:r>
              <a:rPr lang="en-US" sz="2674" dirty="0">
                <a:solidFill>
                  <a:srgbClr val="FFFFFF"/>
                </a:solidFill>
                <a:latin typeface="DM Sans"/>
                <a:ea typeface="DM Sans"/>
                <a:cs typeface="DM Sans"/>
                <a:sym typeface="DM Sans"/>
              </a:rPr>
              <a:t>According to </a:t>
            </a:r>
            <a:r>
              <a:rPr lang="en-US" sz="2674" dirty="0" err="1">
                <a:solidFill>
                  <a:srgbClr val="FFFFFF"/>
                </a:solidFill>
                <a:latin typeface="DM Sans"/>
                <a:ea typeface="DM Sans"/>
                <a:cs typeface="DM Sans"/>
                <a:sym typeface="DM Sans"/>
              </a:rPr>
              <a:t>Sitchon</a:t>
            </a:r>
            <a:r>
              <a:rPr lang="en-US" sz="2674" dirty="0">
                <a:solidFill>
                  <a:srgbClr val="FFFFFF"/>
                </a:solidFill>
                <a:latin typeface="DM Sans"/>
                <a:ea typeface="DM Sans"/>
                <a:cs typeface="DM Sans"/>
                <a:sym typeface="DM Sans"/>
              </a:rPr>
              <a:t>, M. G., Ramos, V., &amp; </a:t>
            </a:r>
            <a:r>
              <a:rPr lang="en-US" sz="2674" dirty="0" err="1">
                <a:solidFill>
                  <a:srgbClr val="FFFFFF"/>
                </a:solidFill>
                <a:latin typeface="DM Sans"/>
                <a:ea typeface="DM Sans"/>
                <a:cs typeface="DM Sans"/>
                <a:sym typeface="DM Sans"/>
              </a:rPr>
              <a:t>Alicuman</a:t>
            </a:r>
            <a:r>
              <a:rPr lang="en-US" sz="2674" dirty="0">
                <a:solidFill>
                  <a:srgbClr val="FFFFFF"/>
                </a:solidFill>
                <a:latin typeface="DM Sans"/>
                <a:ea typeface="DM Sans"/>
                <a:cs typeface="DM Sans"/>
                <a:sym typeface="DM Sans"/>
              </a:rPr>
              <a:t>, W. (2024), the research highlights the beneficial developments in leadership diversity and the efficient governance methods employed by barangay officials in Sta. Rita and San Nicolas. The study emphasizes the importance of accountability and transparency in local governance in the Philippines</a:t>
            </a:r>
          </a:p>
        </p:txBody>
      </p:sp>
      <p:sp>
        <p:nvSpPr>
          <p:cNvPr id="18" name="TextBox 18"/>
          <p:cNvSpPr txBox="1"/>
          <p:nvPr/>
        </p:nvSpPr>
        <p:spPr>
          <a:xfrm>
            <a:off x="1691748" y="6210300"/>
            <a:ext cx="14461407" cy="2344406"/>
          </a:xfrm>
          <a:prstGeom prst="rect">
            <a:avLst/>
          </a:prstGeom>
        </p:spPr>
        <p:txBody>
          <a:bodyPr lIns="0" tIns="0" rIns="0" bIns="0" rtlCol="0" anchor="t">
            <a:spAutoFit/>
          </a:bodyPr>
          <a:lstStyle/>
          <a:p>
            <a:pPr algn="just">
              <a:lnSpc>
                <a:spcPts val="2674"/>
              </a:lnSpc>
            </a:pPr>
            <a:r>
              <a:rPr lang="en-US" sz="2674" dirty="0">
                <a:solidFill>
                  <a:srgbClr val="FFFFFF"/>
                </a:solidFill>
                <a:latin typeface="DM Sans"/>
                <a:ea typeface="DM Sans"/>
                <a:cs typeface="DM Sans"/>
                <a:sym typeface="DM Sans"/>
              </a:rPr>
              <a:t>This study of </a:t>
            </a:r>
            <a:r>
              <a:rPr lang="en-US" sz="2674" dirty="0" err="1">
                <a:solidFill>
                  <a:srgbClr val="FFFFFF"/>
                </a:solidFill>
                <a:latin typeface="DM Sans"/>
                <a:ea typeface="DM Sans"/>
                <a:cs typeface="DM Sans"/>
                <a:sym typeface="DM Sans"/>
              </a:rPr>
              <a:t>Melendres</a:t>
            </a:r>
            <a:r>
              <a:rPr lang="en-US" sz="2674" dirty="0">
                <a:solidFill>
                  <a:srgbClr val="FFFFFF"/>
                </a:solidFill>
                <a:latin typeface="DM Sans"/>
                <a:ea typeface="DM Sans"/>
                <a:cs typeface="DM Sans"/>
                <a:sym typeface="DM Sans"/>
              </a:rPr>
              <a:t> and Aranda (2024) presents a web-based system for managing resident information that is intended to improve the effectiveness of barangay operations in the Philippines. By facilitating the storing and retrieval of resident data, this system will make it easier to develop programs and provide documents like approvals and residence certificates. Barangays can carry out their responsibilities more efficiently and offer the community better services by switching from manual to digital record-keeping.</a:t>
            </a:r>
          </a:p>
          <a:p>
            <a:pPr algn="just">
              <a:lnSpc>
                <a:spcPts val="2674"/>
              </a:lnSpc>
              <a:spcBef>
                <a:spcPct val="0"/>
              </a:spcBef>
            </a:pPr>
            <a:endParaRPr lang="en-US" sz="2674" dirty="0">
              <a:solidFill>
                <a:srgbClr val="FFFFFF"/>
              </a:solidFill>
              <a:latin typeface="DM Sans"/>
              <a:ea typeface="DM Sans"/>
              <a:cs typeface="DM Sans"/>
              <a:sym typeface="DM Sans"/>
            </a:endParaRPr>
          </a:p>
        </p:txBody>
      </p:sp>
      <p:sp>
        <p:nvSpPr>
          <p:cNvPr id="19" name="TextBox 19"/>
          <p:cNvSpPr txBox="1"/>
          <p:nvPr/>
        </p:nvSpPr>
        <p:spPr>
          <a:xfrm>
            <a:off x="1672698" y="2865998"/>
            <a:ext cx="1308876" cy="520077"/>
          </a:xfrm>
          <a:prstGeom prst="rect">
            <a:avLst/>
          </a:prstGeom>
        </p:spPr>
        <p:txBody>
          <a:bodyPr lIns="0" tIns="0" rIns="0" bIns="0" rtlCol="0" anchor="t">
            <a:spAutoFit/>
          </a:bodyPr>
          <a:lstStyle/>
          <a:p>
            <a:pPr algn="ctr">
              <a:lnSpc>
                <a:spcPts val="3974"/>
              </a:lnSpc>
              <a:spcBef>
                <a:spcPct val="0"/>
              </a:spcBef>
            </a:pPr>
            <a:r>
              <a:rPr lang="en-US" sz="3974" b="1" dirty="0">
                <a:solidFill>
                  <a:srgbClr val="FFFFFF"/>
                </a:solidFill>
                <a:latin typeface="DM Sans Bold"/>
                <a:ea typeface="DM Sans Bold"/>
                <a:cs typeface="DM Sans Bold"/>
                <a:sym typeface="DM Sans Bold"/>
              </a:rPr>
              <a:t>Local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9103620" cy="1595230"/>
            <a:chOff x="0" y="0"/>
            <a:chExt cx="2397661" cy="420143"/>
          </a:xfrm>
        </p:grpSpPr>
        <p:sp>
          <p:nvSpPr>
            <p:cNvPr id="3" name="Freeform 3"/>
            <p:cNvSpPr/>
            <p:nvPr/>
          </p:nvSpPr>
          <p:spPr>
            <a:xfrm>
              <a:off x="0" y="0"/>
              <a:ext cx="2397661" cy="420143"/>
            </a:xfrm>
            <a:custGeom>
              <a:avLst/>
              <a:gdLst/>
              <a:ahLst/>
              <a:cxnLst/>
              <a:rect l="l" t="t" r="r" b="b"/>
              <a:pathLst>
                <a:path w="2397661" h="420143">
                  <a:moveTo>
                    <a:pt x="85042" y="0"/>
                  </a:moveTo>
                  <a:lnTo>
                    <a:pt x="2312619" y="0"/>
                  </a:lnTo>
                  <a:cubicBezTo>
                    <a:pt x="2335174" y="0"/>
                    <a:pt x="2356804" y="8960"/>
                    <a:pt x="2372753" y="24908"/>
                  </a:cubicBezTo>
                  <a:cubicBezTo>
                    <a:pt x="2388701" y="40857"/>
                    <a:pt x="2397661" y="62488"/>
                    <a:pt x="2397661" y="85042"/>
                  </a:cubicBezTo>
                  <a:lnTo>
                    <a:pt x="2397661" y="335101"/>
                  </a:lnTo>
                  <a:cubicBezTo>
                    <a:pt x="2397661" y="382068"/>
                    <a:pt x="2359587" y="420143"/>
                    <a:pt x="2312619" y="420143"/>
                  </a:cubicBezTo>
                  <a:lnTo>
                    <a:pt x="85042" y="420143"/>
                  </a:lnTo>
                  <a:cubicBezTo>
                    <a:pt x="62488" y="420143"/>
                    <a:pt x="40857" y="411183"/>
                    <a:pt x="24908" y="395235"/>
                  </a:cubicBezTo>
                  <a:cubicBezTo>
                    <a:pt x="8960" y="379286"/>
                    <a:pt x="0" y="357655"/>
                    <a:pt x="0" y="335101"/>
                  </a:cubicBezTo>
                  <a:lnTo>
                    <a:pt x="0" y="85042"/>
                  </a:lnTo>
                  <a:cubicBezTo>
                    <a:pt x="0" y="62488"/>
                    <a:pt x="8960" y="40857"/>
                    <a:pt x="24908" y="24908"/>
                  </a:cubicBezTo>
                  <a:cubicBezTo>
                    <a:pt x="40857" y="8960"/>
                    <a:pt x="62488" y="0"/>
                    <a:pt x="85042" y="0"/>
                  </a:cubicBezTo>
                  <a:close/>
                </a:path>
              </a:pathLst>
            </a:custGeom>
            <a:solidFill>
              <a:srgbClr val="000000">
                <a:alpha val="0"/>
              </a:srgbClr>
            </a:solidFill>
            <a:ln w="38100" cap="rnd">
              <a:solidFill>
                <a:srgbClr val="D5D7D5"/>
              </a:solidFill>
              <a:prstDash val="solid"/>
              <a:round/>
            </a:ln>
          </p:spPr>
        </p:sp>
        <p:sp>
          <p:nvSpPr>
            <p:cNvPr id="4" name="TextBox 4"/>
            <p:cNvSpPr txBox="1"/>
            <p:nvPr/>
          </p:nvSpPr>
          <p:spPr>
            <a:xfrm>
              <a:off x="0" y="-28575"/>
              <a:ext cx="2397661"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5D7D5"/>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TextBox 8"/>
          <p:cNvSpPr txBox="1"/>
          <p:nvPr/>
        </p:nvSpPr>
        <p:spPr>
          <a:xfrm>
            <a:off x="904875" y="1170875"/>
            <a:ext cx="6281977" cy="574267"/>
          </a:xfrm>
          <a:prstGeom prst="rect">
            <a:avLst/>
          </a:prstGeom>
        </p:spPr>
        <p:txBody>
          <a:bodyPr lIns="0" tIns="0" rIns="0" bIns="0" rtlCol="0" anchor="t">
            <a:spAutoFit/>
          </a:bodyPr>
          <a:lstStyle/>
          <a:p>
            <a:pPr algn="l">
              <a:lnSpc>
                <a:spcPts val="4012"/>
              </a:lnSpc>
            </a:pPr>
            <a:r>
              <a:rPr lang="en-US" sz="4612" b="1">
                <a:solidFill>
                  <a:srgbClr val="FFFFFF"/>
                </a:solidFill>
                <a:latin typeface="Neue Machina Ultra-Bold"/>
                <a:ea typeface="Neue Machina Ultra-Bold"/>
                <a:cs typeface="Neue Machina Ultra-Bold"/>
                <a:sym typeface="Neue Machina Ultra-Bold"/>
              </a:rPr>
              <a:t>Related Literature</a:t>
            </a:r>
          </a:p>
        </p:txBody>
      </p:sp>
      <p:grpSp>
        <p:nvGrpSpPr>
          <p:cNvPr id="11" name="Group 11"/>
          <p:cNvGrpSpPr/>
          <p:nvPr/>
        </p:nvGrpSpPr>
        <p:grpSpPr>
          <a:xfrm>
            <a:off x="15633392" y="973325"/>
            <a:ext cx="110750" cy="11075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13" name="TextBox 13"/>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4" name="Group 14"/>
          <p:cNvGrpSpPr/>
          <p:nvPr/>
        </p:nvGrpSpPr>
        <p:grpSpPr>
          <a:xfrm>
            <a:off x="15434100" y="973325"/>
            <a:ext cx="110750" cy="11075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5D7D5"/>
              </a:solidFill>
              <a:prstDash val="solid"/>
              <a:miter/>
            </a:ln>
          </p:spPr>
        </p:sp>
        <p:sp>
          <p:nvSpPr>
            <p:cNvPr id="16" name="TextBox 16"/>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7" name="TextBox 17"/>
          <p:cNvSpPr txBox="1"/>
          <p:nvPr/>
        </p:nvSpPr>
        <p:spPr>
          <a:xfrm>
            <a:off x="1419838" y="3604606"/>
            <a:ext cx="15596126" cy="2677781"/>
          </a:xfrm>
          <a:prstGeom prst="rect">
            <a:avLst/>
          </a:prstGeom>
        </p:spPr>
        <p:txBody>
          <a:bodyPr lIns="0" tIns="0" rIns="0" bIns="0" rtlCol="0" anchor="t">
            <a:spAutoFit/>
          </a:bodyPr>
          <a:lstStyle/>
          <a:p>
            <a:pPr algn="just">
              <a:lnSpc>
                <a:spcPts val="2674"/>
              </a:lnSpc>
            </a:pPr>
            <a:r>
              <a:rPr lang="en-US" sz="2674" dirty="0">
                <a:solidFill>
                  <a:srgbClr val="FFFFFF"/>
                </a:solidFill>
                <a:latin typeface="DM Sans"/>
                <a:ea typeface="DM Sans"/>
                <a:cs typeface="DM Sans"/>
                <a:sym typeface="DM Sans"/>
              </a:rPr>
              <a:t>Relevant content, accessibility ,active engagement and tailored approaches defined by (</a:t>
            </a:r>
            <a:r>
              <a:rPr lang="en-US" sz="2674" dirty="0" err="1">
                <a:solidFill>
                  <a:srgbClr val="FFFFFF"/>
                </a:solidFill>
                <a:latin typeface="DM Sans"/>
                <a:ea typeface="DM Sans"/>
                <a:cs typeface="DM Sans"/>
                <a:sym typeface="DM Sans"/>
              </a:rPr>
              <a:t>Susano</a:t>
            </a:r>
            <a:r>
              <a:rPr lang="en-US" sz="2674" dirty="0">
                <a:solidFill>
                  <a:srgbClr val="FFFFFF"/>
                </a:solidFill>
                <a:latin typeface="DM Sans"/>
                <a:ea typeface="DM Sans"/>
                <a:cs typeface="DM Sans"/>
                <a:sym typeface="DM Sans"/>
              </a:rPr>
              <a:t> &amp; </a:t>
            </a:r>
            <a:r>
              <a:rPr lang="en-US" sz="2674" dirty="0" err="1">
                <a:solidFill>
                  <a:srgbClr val="FFFFFF"/>
                </a:solidFill>
                <a:latin typeface="DM Sans"/>
                <a:ea typeface="DM Sans"/>
                <a:cs typeface="DM Sans"/>
                <a:sym typeface="DM Sans"/>
              </a:rPr>
              <a:t>Rachmawati</a:t>
            </a:r>
            <a:r>
              <a:rPr lang="en-US" sz="2674" dirty="0">
                <a:solidFill>
                  <a:srgbClr val="FFFFFF"/>
                </a:solidFill>
                <a:latin typeface="DM Sans"/>
                <a:ea typeface="DM Sans"/>
                <a:cs typeface="DM Sans"/>
                <a:sym typeface="DM Sans"/>
              </a:rPr>
              <a:t>, 2024) as a way to encourage community involvement by using the village website. These strategies seek to address current issues and optimize the website's potential as a community interaction tool. The study highlights how important village websites are for encouraging community involvement and enhancing local government. The study employs an organized approach to identify obstacles, investigate recipients, and suggest methods to optimize digital interaction among residents of Batur Village, Semarang Regency.</a:t>
            </a:r>
          </a:p>
          <a:p>
            <a:pPr algn="just">
              <a:lnSpc>
                <a:spcPts val="2674"/>
              </a:lnSpc>
              <a:spcBef>
                <a:spcPct val="0"/>
              </a:spcBef>
            </a:pPr>
            <a:endParaRPr lang="en-US" sz="2674" dirty="0">
              <a:solidFill>
                <a:srgbClr val="FFFFFF"/>
              </a:solidFill>
              <a:latin typeface="DM Sans"/>
              <a:ea typeface="DM Sans"/>
              <a:cs typeface="DM Sans"/>
              <a:sym typeface="DM Sans"/>
            </a:endParaRPr>
          </a:p>
        </p:txBody>
      </p:sp>
      <p:sp>
        <p:nvSpPr>
          <p:cNvPr id="18" name="TextBox 18"/>
          <p:cNvSpPr txBox="1"/>
          <p:nvPr/>
        </p:nvSpPr>
        <p:spPr>
          <a:xfrm>
            <a:off x="1457938" y="6620320"/>
            <a:ext cx="15596126" cy="2677781"/>
          </a:xfrm>
          <a:prstGeom prst="rect">
            <a:avLst/>
          </a:prstGeom>
        </p:spPr>
        <p:txBody>
          <a:bodyPr lIns="0" tIns="0" rIns="0" bIns="0" rtlCol="0" anchor="t">
            <a:spAutoFit/>
          </a:bodyPr>
          <a:lstStyle/>
          <a:p>
            <a:pPr algn="just">
              <a:lnSpc>
                <a:spcPts val="2674"/>
              </a:lnSpc>
            </a:pPr>
            <a:r>
              <a:rPr lang="en-US" sz="2674" dirty="0">
                <a:solidFill>
                  <a:srgbClr val="FFFFFF"/>
                </a:solidFill>
                <a:latin typeface="DM Sans"/>
                <a:ea typeface="DM Sans"/>
                <a:cs typeface="DM Sans"/>
                <a:sym typeface="DM Sans"/>
              </a:rPr>
              <a:t>Through providing efficient, individualized support, the use of AI chatbots in government services improves user engagement. Moreover, </a:t>
            </a:r>
            <a:r>
              <a:rPr lang="en-US" sz="2674" dirty="0" err="1">
                <a:solidFill>
                  <a:srgbClr val="FFFFFF"/>
                </a:solidFill>
                <a:latin typeface="DM Sans"/>
                <a:ea typeface="DM Sans"/>
                <a:cs typeface="DM Sans"/>
                <a:sym typeface="DM Sans"/>
              </a:rPr>
              <a:t>Androutsopoulou</a:t>
            </a:r>
            <a:r>
              <a:rPr lang="en-US" sz="2674" dirty="0">
                <a:solidFill>
                  <a:srgbClr val="FFFFFF"/>
                </a:solidFill>
                <a:latin typeface="DM Sans"/>
                <a:ea typeface="DM Sans"/>
                <a:cs typeface="DM Sans"/>
                <a:sym typeface="DM Sans"/>
              </a:rPr>
              <a:t> et al. (2019) present the benefits of using AI Chatbots for interacting between government and citizens to improve user </a:t>
            </a:r>
            <a:r>
              <a:rPr lang="en-US" sz="2674" dirty="0" err="1">
                <a:solidFill>
                  <a:srgbClr val="FFFFFF"/>
                </a:solidFill>
                <a:latin typeface="DM Sans"/>
                <a:ea typeface="DM Sans"/>
                <a:cs typeface="DM Sans"/>
                <a:sym typeface="DM Sans"/>
              </a:rPr>
              <a:t>engagement.In</a:t>
            </a:r>
            <a:r>
              <a:rPr lang="en-US" sz="2674" dirty="0">
                <a:solidFill>
                  <a:srgbClr val="FFFFFF"/>
                </a:solidFill>
                <a:latin typeface="DM Sans"/>
                <a:ea typeface="DM Sans"/>
                <a:cs typeface="DM Sans"/>
                <a:sym typeface="DM Sans"/>
              </a:rPr>
              <a:t> addition to providing citizens with real-time assistance, this integration reduces operating expenses. Governments may promote accessibility, diversity, and transparency in public services by utilizing AI technology, which will ultimately increase public confidence in authorities.</a:t>
            </a:r>
          </a:p>
          <a:p>
            <a:pPr algn="just">
              <a:lnSpc>
                <a:spcPts val="2674"/>
              </a:lnSpc>
            </a:pPr>
            <a:r>
              <a:rPr lang="en-US" sz="2674" dirty="0">
                <a:solidFill>
                  <a:srgbClr val="FFFFFF"/>
                </a:solidFill>
                <a:latin typeface="DM Sans"/>
                <a:ea typeface="DM Sans"/>
                <a:cs typeface="DM Sans"/>
                <a:sym typeface="DM Sans"/>
              </a:rPr>
              <a:t>(</a:t>
            </a:r>
            <a:r>
              <a:rPr lang="en-US" sz="2674" dirty="0" err="1">
                <a:solidFill>
                  <a:srgbClr val="FFFFFF"/>
                </a:solidFill>
                <a:latin typeface="DM Sans"/>
                <a:ea typeface="DM Sans"/>
                <a:cs typeface="DM Sans"/>
                <a:sym typeface="DM Sans"/>
              </a:rPr>
              <a:t>Onoja</a:t>
            </a:r>
            <a:r>
              <a:rPr lang="en-US" sz="2674" dirty="0">
                <a:solidFill>
                  <a:srgbClr val="FFFFFF"/>
                </a:solidFill>
                <a:latin typeface="DM Sans"/>
                <a:ea typeface="DM Sans"/>
                <a:cs typeface="DM Sans"/>
                <a:sym typeface="DM Sans"/>
              </a:rPr>
              <a:t> &amp; Ajala, 2023)</a:t>
            </a:r>
          </a:p>
          <a:p>
            <a:pPr algn="just">
              <a:lnSpc>
                <a:spcPts val="2674"/>
              </a:lnSpc>
              <a:spcBef>
                <a:spcPct val="0"/>
              </a:spcBef>
            </a:pPr>
            <a:endParaRPr lang="en-US" sz="2674" dirty="0">
              <a:solidFill>
                <a:srgbClr val="FFFFFF"/>
              </a:solidFill>
              <a:latin typeface="DM Sans"/>
              <a:ea typeface="DM Sans"/>
              <a:cs typeface="DM Sans"/>
              <a:sym typeface="DM Sans"/>
            </a:endParaRPr>
          </a:p>
        </p:txBody>
      </p:sp>
      <p:sp>
        <p:nvSpPr>
          <p:cNvPr id="19" name="TextBox 19"/>
          <p:cNvSpPr txBox="1"/>
          <p:nvPr/>
        </p:nvSpPr>
        <p:spPr>
          <a:xfrm>
            <a:off x="1457938" y="2709547"/>
            <a:ext cx="1814621" cy="520077"/>
          </a:xfrm>
          <a:prstGeom prst="rect">
            <a:avLst/>
          </a:prstGeom>
        </p:spPr>
        <p:txBody>
          <a:bodyPr lIns="0" tIns="0" rIns="0" bIns="0" rtlCol="0" anchor="t">
            <a:spAutoFit/>
          </a:bodyPr>
          <a:lstStyle/>
          <a:p>
            <a:pPr algn="ctr">
              <a:lnSpc>
                <a:spcPts val="3974"/>
              </a:lnSpc>
              <a:spcBef>
                <a:spcPct val="0"/>
              </a:spcBef>
            </a:pPr>
            <a:r>
              <a:rPr lang="en-US" sz="3974" b="1" dirty="0">
                <a:solidFill>
                  <a:srgbClr val="FFFFFF"/>
                </a:solidFill>
                <a:latin typeface="DM Sans Bold"/>
                <a:ea typeface="DM Sans Bold"/>
                <a:cs typeface="DM Sans Bold"/>
                <a:sym typeface="DM Sans Bold"/>
              </a:rPr>
              <a:t>Foreign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10456964" cy="1595230"/>
            <a:chOff x="0" y="0"/>
            <a:chExt cx="2754098" cy="420143"/>
          </a:xfrm>
        </p:grpSpPr>
        <p:sp>
          <p:nvSpPr>
            <p:cNvPr id="3" name="Freeform 3"/>
            <p:cNvSpPr/>
            <p:nvPr/>
          </p:nvSpPr>
          <p:spPr>
            <a:xfrm>
              <a:off x="0" y="0"/>
              <a:ext cx="2754098" cy="420143"/>
            </a:xfrm>
            <a:custGeom>
              <a:avLst/>
              <a:gdLst/>
              <a:ahLst/>
              <a:cxnLst/>
              <a:rect l="l" t="t" r="r" b="b"/>
              <a:pathLst>
                <a:path w="2754098" h="420143">
                  <a:moveTo>
                    <a:pt x="74036" y="0"/>
                  </a:moveTo>
                  <a:lnTo>
                    <a:pt x="2680062" y="0"/>
                  </a:lnTo>
                  <a:cubicBezTo>
                    <a:pt x="2720951" y="0"/>
                    <a:pt x="2754098" y="33147"/>
                    <a:pt x="2754098" y="74036"/>
                  </a:cubicBezTo>
                  <a:lnTo>
                    <a:pt x="2754098" y="346107"/>
                  </a:lnTo>
                  <a:cubicBezTo>
                    <a:pt x="2754098" y="386996"/>
                    <a:pt x="2720951" y="420143"/>
                    <a:pt x="2680062" y="420143"/>
                  </a:cubicBezTo>
                  <a:lnTo>
                    <a:pt x="74036" y="420143"/>
                  </a:lnTo>
                  <a:cubicBezTo>
                    <a:pt x="33147" y="420143"/>
                    <a:pt x="0" y="386996"/>
                    <a:pt x="0" y="346107"/>
                  </a:cubicBezTo>
                  <a:lnTo>
                    <a:pt x="0" y="74036"/>
                  </a:lnTo>
                  <a:cubicBezTo>
                    <a:pt x="0" y="33147"/>
                    <a:pt x="33147" y="0"/>
                    <a:pt x="74036" y="0"/>
                  </a:cubicBezTo>
                  <a:close/>
                </a:path>
              </a:pathLst>
            </a:custGeom>
            <a:solidFill>
              <a:srgbClr val="000000">
                <a:alpha val="0"/>
              </a:srgbClr>
            </a:solidFill>
            <a:ln w="38100" cap="rnd">
              <a:solidFill>
                <a:srgbClr val="D5D7D5"/>
              </a:solidFill>
              <a:prstDash val="solid"/>
              <a:round/>
            </a:ln>
          </p:spPr>
        </p:sp>
        <p:sp>
          <p:nvSpPr>
            <p:cNvPr id="4" name="TextBox 4"/>
            <p:cNvSpPr txBox="1"/>
            <p:nvPr/>
          </p:nvSpPr>
          <p:spPr>
            <a:xfrm>
              <a:off x="0" y="-28575"/>
              <a:ext cx="2754098"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5D7D5"/>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TextBox 8"/>
          <p:cNvSpPr txBox="1"/>
          <p:nvPr/>
        </p:nvSpPr>
        <p:spPr>
          <a:xfrm>
            <a:off x="838200" y="1152525"/>
            <a:ext cx="7743682" cy="574267"/>
          </a:xfrm>
          <a:prstGeom prst="rect">
            <a:avLst/>
          </a:prstGeom>
        </p:spPr>
        <p:txBody>
          <a:bodyPr lIns="0" tIns="0" rIns="0" bIns="0" rtlCol="0" anchor="t">
            <a:spAutoFit/>
          </a:bodyPr>
          <a:lstStyle/>
          <a:p>
            <a:pPr algn="l">
              <a:lnSpc>
                <a:spcPts val="4012"/>
              </a:lnSpc>
            </a:pPr>
            <a:r>
              <a:rPr lang="en-US" sz="4612" b="1">
                <a:solidFill>
                  <a:srgbClr val="FFFFFF"/>
                </a:solidFill>
                <a:latin typeface="Neue Machina Ultra-Bold"/>
                <a:ea typeface="Neue Machina Ultra-Bold"/>
                <a:cs typeface="Neue Machina Ultra-Bold"/>
                <a:sym typeface="Neue Machina Ultra-Bold"/>
              </a:rPr>
              <a:t>Conceptual Framework</a:t>
            </a:r>
          </a:p>
        </p:txBody>
      </p:sp>
      <p:grpSp>
        <p:nvGrpSpPr>
          <p:cNvPr id="9" name="Group 9"/>
          <p:cNvGrpSpPr/>
          <p:nvPr/>
        </p:nvGrpSpPr>
        <p:grpSpPr>
          <a:xfrm>
            <a:off x="15633392" y="973325"/>
            <a:ext cx="110750" cy="11075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11" name="TextBox 11"/>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2" name="Group 12"/>
          <p:cNvGrpSpPr/>
          <p:nvPr/>
        </p:nvGrpSpPr>
        <p:grpSpPr>
          <a:xfrm>
            <a:off x="15434100" y="973325"/>
            <a:ext cx="110750" cy="11075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5D7D5"/>
              </a:solidFill>
              <a:prstDash val="solid"/>
              <a:miter/>
            </a:ln>
          </p:spPr>
        </p:sp>
        <p:sp>
          <p:nvSpPr>
            <p:cNvPr id="14" name="TextBox 14"/>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5" name="TextBox 15"/>
          <p:cNvSpPr txBox="1"/>
          <p:nvPr/>
        </p:nvSpPr>
        <p:spPr>
          <a:xfrm>
            <a:off x="762000" y="3697878"/>
            <a:ext cx="3096368" cy="4805354"/>
          </a:xfrm>
          <a:prstGeom prst="rect">
            <a:avLst/>
          </a:prstGeom>
        </p:spPr>
        <p:txBody>
          <a:bodyPr wrap="square" lIns="0" tIns="0" rIns="0" bIns="0" rtlCol="0" anchor="t">
            <a:spAutoFit/>
          </a:bodyPr>
          <a:lstStyle/>
          <a:p>
            <a:pPr>
              <a:lnSpc>
                <a:spcPts val="2174"/>
              </a:lnSpc>
            </a:pPr>
            <a:r>
              <a:rPr lang="en-US" sz="2174" dirty="0">
                <a:solidFill>
                  <a:srgbClr val="FFFFFF"/>
                </a:solidFill>
                <a:latin typeface="DM Sans"/>
                <a:ea typeface="DM Sans"/>
                <a:cs typeface="DM Sans"/>
                <a:sym typeface="DM Sans"/>
              </a:rPr>
              <a:t> The conceptual model for this project is the Input-Process-Output (IPO) framework, which shows the structure of the creation of a web-based operations and monitoring system for Barangay 174. This model helps in understanding the data flow and procedures associated in using digital solutions to transform barangay operations.</a:t>
            </a:r>
          </a:p>
          <a:p>
            <a:pPr algn="just">
              <a:lnSpc>
                <a:spcPts val="2174"/>
              </a:lnSpc>
              <a:spcBef>
                <a:spcPct val="0"/>
              </a:spcBef>
            </a:pPr>
            <a:endParaRPr lang="en-US" sz="2174" dirty="0">
              <a:solidFill>
                <a:srgbClr val="FFFFFF"/>
              </a:solidFill>
              <a:latin typeface="DM Sans"/>
              <a:ea typeface="DM Sans"/>
              <a:cs typeface="DM Sans"/>
              <a:sym typeface="DM Sans"/>
            </a:endParaRPr>
          </a:p>
        </p:txBody>
      </p:sp>
      <p:pic>
        <p:nvPicPr>
          <p:cNvPr id="16" name="image4.jpg">
            <a:extLst>
              <a:ext uri="{FF2B5EF4-FFF2-40B4-BE49-F238E27FC236}">
                <a16:creationId xmlns:a16="http://schemas.microsoft.com/office/drawing/2014/main" id="{4F0860A5-F5AB-4CF9-45BE-9B87146C683C}"/>
              </a:ext>
            </a:extLst>
          </p:cNvPr>
          <p:cNvPicPr/>
          <p:nvPr/>
        </p:nvPicPr>
        <p:blipFill>
          <a:blip r:embed="rId2"/>
          <a:srcRect/>
          <a:stretch>
            <a:fillRect/>
          </a:stretch>
        </p:blipFill>
        <p:spPr>
          <a:xfrm>
            <a:off x="4163168" y="2705100"/>
            <a:ext cx="12981832" cy="6705600"/>
          </a:xfrm>
          <a:prstGeom prst="rect">
            <a:avLst/>
          </a:prstGeom>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1152</Words>
  <Application>Microsoft Office PowerPoint</Application>
  <PresentationFormat>Custom</PresentationFormat>
  <Paragraphs>63</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Merriweather Sans Bold</vt:lpstr>
      <vt:lpstr>DM Sans Bold</vt:lpstr>
      <vt:lpstr>Calibri</vt:lpstr>
      <vt:lpstr>Neue Machina Ultra-Bold</vt:lpstr>
      <vt:lpstr>DM Sans</vt:lpstr>
      <vt:lpstr>Neue Machina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 1 to 2</dc:title>
  <dc:creator>Admin</dc:creator>
  <cp:lastModifiedBy>Admin</cp:lastModifiedBy>
  <cp:revision>2</cp:revision>
  <dcterms:created xsi:type="dcterms:W3CDTF">2006-08-16T00:00:00Z</dcterms:created>
  <dcterms:modified xsi:type="dcterms:W3CDTF">2025-02-28T06:55:16Z</dcterms:modified>
  <dc:identifier>DAGgWTlCAPA</dc:identifier>
</cp:coreProperties>
</file>